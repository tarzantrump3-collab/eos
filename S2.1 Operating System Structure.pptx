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6" r:id="rId2"/>
    <p:sldId id="275" r:id="rId3"/>
    <p:sldId id="284" r:id="rId4"/>
    <p:sldId id="281" r:id="rId5"/>
    <p:sldId id="276" r:id="rId6"/>
    <p:sldId id="283" r:id="rId7"/>
    <p:sldId id="277" r:id="rId8"/>
    <p:sldId id="278" r:id="rId9"/>
    <p:sldId id="279" r:id="rId10"/>
    <p:sldId id="282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728" autoAdjust="0"/>
  </p:normalViewPr>
  <p:slideViewPr>
    <p:cSldViewPr>
      <p:cViewPr varScale="1">
        <p:scale>
          <a:sx n="77" d="100"/>
          <a:sy n="77" d="100"/>
        </p:scale>
        <p:origin x="161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70A66E-CF90-4D93-A881-2709D5B51061}" type="datetimeFigureOut">
              <a:rPr lang="en-US" smtClean="0"/>
              <a:pPr/>
              <a:t>5/15/2024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B65CB4-A102-4CFC-AF73-CA3B1F55BA1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http://www.faqs.org/docs/artu/ch01s06.html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D18838-FCC7-4FB5-827F-A208D4952F96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271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Logos source: http://www.muylinux.com/wp-content/uploads/2009/04/logos-distros.jpg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D18838-FCC7-4FB5-827F-A208D4952F96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6209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3D742D1-7BF0-48ED-ADAF-9E3A1836E61B}"/>
              </a:ext>
            </a:extLst>
          </p:cNvPr>
          <p:cNvSpPr/>
          <p:nvPr/>
        </p:nvSpPr>
        <p:spPr>
          <a:xfrm>
            <a:off x="0" y="4735808"/>
            <a:ext cx="9144000" cy="2122193"/>
          </a:xfrm>
          <a:prstGeom prst="rect">
            <a:avLst/>
          </a:prstGeom>
          <a:solidFill>
            <a:srgbClr val="332F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5F9472-A0F2-4550-9734-62C795442E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2999" y="2657918"/>
            <a:ext cx="6858000" cy="1655478"/>
          </a:xfrm>
        </p:spPr>
        <p:txBody>
          <a:bodyPr anchor="ctr"/>
          <a:lstStyle>
            <a:lvl1pPr algn="ctr">
              <a:defRPr sz="6000" b="1">
                <a:solidFill>
                  <a:srgbClr val="002060"/>
                </a:solidFill>
                <a:latin typeface="Heltevica"/>
              </a:defRPr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6664E1-9485-4079-B9A8-E082A5C72AA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3000" y="4989529"/>
            <a:ext cx="6858000" cy="508721"/>
          </a:xfrm>
        </p:spPr>
        <p:txBody>
          <a:bodyPr anchor="ctr">
            <a:normAutofit/>
          </a:bodyPr>
          <a:lstStyle>
            <a:lvl1pPr marL="0" indent="0" algn="ctr">
              <a:buNone/>
              <a:defRPr sz="2800">
                <a:solidFill>
                  <a:schemeClr val="bg1"/>
                </a:solidFill>
                <a:latin typeface="Heltevic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Name of Faculty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5D7214-C4CD-498C-9834-C885BB9C4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04CF-1B37-45E7-B160-2B0ACE45549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11C1536E-590E-4BA0-BAD4-4BEA88F0BF3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2999" y="1892448"/>
            <a:ext cx="6858000" cy="310144"/>
          </a:xfrm>
        </p:spPr>
        <p:txBody>
          <a:bodyPr>
            <a:noAutofit/>
          </a:bodyPr>
          <a:lstStyle>
            <a:lvl1pPr marL="0" indent="0" algn="ctr">
              <a:buNone/>
              <a:defRPr sz="2000"/>
            </a:lvl1pPr>
          </a:lstStyle>
          <a:p>
            <a:pPr lvl="0"/>
            <a:r>
              <a:rPr lang="en-US" dirty="0"/>
              <a:t>Name of the Course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4BAB6A75-82A7-4C99-B78D-F243936C337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42999" y="2320790"/>
            <a:ext cx="6858000" cy="310145"/>
          </a:xfrm>
        </p:spPr>
        <p:txBody>
          <a:bodyPr>
            <a:normAutofit/>
          </a:bodyPr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Heltevica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Topic No</a:t>
            </a:r>
          </a:p>
        </p:txBody>
      </p:sp>
    </p:spTree>
    <p:extLst>
      <p:ext uri="{BB962C8B-B14F-4D97-AF65-F5344CB8AC3E}">
        <p14:creationId xmlns:p14="http://schemas.microsoft.com/office/powerpoint/2010/main" val="23857995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2594B-7319-4482-9AE6-EC74EAE59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 b="0">
                <a:solidFill>
                  <a:srgbClr val="332F67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9A3243-F8F1-4735-84CB-DA267F6B00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77AE67-A40B-4B1F-A27D-C82248E89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D328C-B938-4E8D-BA18-D6B4AEAD4513}" type="datetimeFigureOut">
              <a:rPr lang="en-US" smtClean="0"/>
              <a:pPr/>
              <a:t>5/15/2024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77F67E-3AA0-4A75-BE19-C1FBBDF89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8852C82-4A16-49D7-B656-0C87A0035C91}"/>
              </a:ext>
            </a:extLst>
          </p:cNvPr>
          <p:cNvSpPr/>
          <p:nvPr/>
        </p:nvSpPr>
        <p:spPr>
          <a:xfrm>
            <a:off x="264967" y="958204"/>
            <a:ext cx="1220933" cy="66389"/>
          </a:xfrm>
          <a:prstGeom prst="rect">
            <a:avLst/>
          </a:prstGeom>
          <a:solidFill>
            <a:srgbClr val="AE251C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26B0F06-65D7-4190-8F22-D7DE75D4ECA7}"/>
              </a:ext>
            </a:extLst>
          </p:cNvPr>
          <p:cNvSpPr/>
          <p:nvPr/>
        </p:nvSpPr>
        <p:spPr>
          <a:xfrm>
            <a:off x="140276" y="1014485"/>
            <a:ext cx="1220933" cy="66389"/>
          </a:xfrm>
          <a:prstGeom prst="rect">
            <a:avLst/>
          </a:prstGeom>
          <a:solidFill>
            <a:srgbClr val="332F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4162228-2F01-4EEE-AD7A-2F409DF7C57C}"/>
              </a:ext>
            </a:extLst>
          </p:cNvPr>
          <p:cNvSpPr/>
          <p:nvPr/>
        </p:nvSpPr>
        <p:spPr>
          <a:xfrm>
            <a:off x="0" y="6771574"/>
            <a:ext cx="9144000" cy="117054"/>
          </a:xfrm>
          <a:prstGeom prst="rect">
            <a:avLst/>
          </a:prstGeom>
          <a:solidFill>
            <a:srgbClr val="332F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21410FE-2DC4-4765-BF39-99EFA09F0274}"/>
              </a:ext>
            </a:extLst>
          </p:cNvPr>
          <p:cNvSpPr/>
          <p:nvPr/>
        </p:nvSpPr>
        <p:spPr>
          <a:xfrm>
            <a:off x="0" y="6654520"/>
            <a:ext cx="9144000" cy="117054"/>
          </a:xfrm>
          <a:prstGeom prst="rect">
            <a:avLst/>
          </a:prstGeom>
          <a:solidFill>
            <a:srgbClr val="AE251C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81ADC20A-2C04-4929-9AFF-53516860E0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6801" y="6309881"/>
            <a:ext cx="4260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3004CF-1B37-45E7-B160-2B0ACE4554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51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4B0FE-B0C9-46D8-967A-59F65C29C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lang="en-IN" sz="4400" b="0" kern="1200" dirty="0">
                <a:solidFill>
                  <a:srgbClr val="332F67"/>
                </a:solidFill>
                <a:latin typeface="Heltevica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3B0EF4-6523-4FDF-9387-11EDF93357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64968" y="1231164"/>
            <a:ext cx="3990110" cy="53750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35B17C-E2ED-4325-9395-D7777E4E00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33009" y="1243731"/>
            <a:ext cx="4436918" cy="53750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5CC4BF-0660-43CA-8A30-0CC8E64C8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D328C-B938-4E8D-BA18-D6B4AEAD4513}" type="datetimeFigureOut">
              <a:rPr lang="en-US" smtClean="0"/>
              <a:pPr/>
              <a:t>5/15/2024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034424-C002-49F8-9B63-DD7D1B680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5CBC22-DB28-4B66-B924-84922D895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04CF-1B37-45E7-B160-2B0ACE45549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BBF6B60-A9C1-4A07-B32C-8CCFFCF40A4A}"/>
              </a:ext>
            </a:extLst>
          </p:cNvPr>
          <p:cNvSpPr/>
          <p:nvPr/>
        </p:nvSpPr>
        <p:spPr>
          <a:xfrm>
            <a:off x="264967" y="958204"/>
            <a:ext cx="1220933" cy="66389"/>
          </a:xfrm>
          <a:prstGeom prst="rect">
            <a:avLst/>
          </a:prstGeom>
          <a:solidFill>
            <a:srgbClr val="AE251C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4925A20-BC26-4C02-90BC-3AB92E6F8C61}"/>
              </a:ext>
            </a:extLst>
          </p:cNvPr>
          <p:cNvSpPr/>
          <p:nvPr/>
        </p:nvSpPr>
        <p:spPr>
          <a:xfrm>
            <a:off x="140276" y="1014485"/>
            <a:ext cx="1220933" cy="66389"/>
          </a:xfrm>
          <a:prstGeom prst="rect">
            <a:avLst/>
          </a:prstGeom>
          <a:solidFill>
            <a:srgbClr val="332F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C0637D2-E321-490D-B3C1-96A1BC775909}"/>
              </a:ext>
            </a:extLst>
          </p:cNvPr>
          <p:cNvSpPr/>
          <p:nvPr/>
        </p:nvSpPr>
        <p:spPr>
          <a:xfrm>
            <a:off x="0" y="6771574"/>
            <a:ext cx="9144000" cy="117054"/>
          </a:xfrm>
          <a:prstGeom prst="rect">
            <a:avLst/>
          </a:prstGeom>
          <a:solidFill>
            <a:srgbClr val="332F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FB19C0D-B89C-4FFC-B92A-792486AF17A5}"/>
              </a:ext>
            </a:extLst>
          </p:cNvPr>
          <p:cNvSpPr/>
          <p:nvPr/>
        </p:nvSpPr>
        <p:spPr>
          <a:xfrm>
            <a:off x="0" y="6654520"/>
            <a:ext cx="9144000" cy="117054"/>
          </a:xfrm>
          <a:prstGeom prst="rect">
            <a:avLst/>
          </a:prstGeom>
          <a:solidFill>
            <a:srgbClr val="AE251C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121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42B25-6E11-4856-AAF4-F22FE611F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4400" b="0" kern="1200" dirty="0">
                <a:solidFill>
                  <a:srgbClr val="332F67"/>
                </a:solidFill>
                <a:latin typeface="Heltevica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354B81-59A8-48C7-8518-D23982905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D328C-B938-4E8D-BA18-D6B4AEAD4513}" type="datetimeFigureOut">
              <a:rPr lang="en-US" smtClean="0"/>
              <a:pPr/>
              <a:t>5/15/2024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2351E8-DFDA-4AD5-9E81-156C7B014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4DAFD8-4E1C-423C-A8FA-9E4FEB757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04CF-1B37-45E7-B160-2B0ACE45549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1DD4527-3A5E-46B2-AA54-9FC0A20A1C84}"/>
              </a:ext>
            </a:extLst>
          </p:cNvPr>
          <p:cNvSpPr/>
          <p:nvPr/>
        </p:nvSpPr>
        <p:spPr>
          <a:xfrm>
            <a:off x="264967" y="958204"/>
            <a:ext cx="1220933" cy="66389"/>
          </a:xfrm>
          <a:prstGeom prst="rect">
            <a:avLst/>
          </a:prstGeom>
          <a:solidFill>
            <a:srgbClr val="AE251C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84CADB4-9D46-4FD2-9DBB-A9F7CA16CC48}"/>
              </a:ext>
            </a:extLst>
          </p:cNvPr>
          <p:cNvSpPr/>
          <p:nvPr/>
        </p:nvSpPr>
        <p:spPr>
          <a:xfrm>
            <a:off x="140276" y="1014485"/>
            <a:ext cx="1220933" cy="66389"/>
          </a:xfrm>
          <a:prstGeom prst="rect">
            <a:avLst/>
          </a:prstGeom>
          <a:solidFill>
            <a:srgbClr val="332F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3F78242-09F0-4E23-AD0E-752F68E18A56}"/>
              </a:ext>
            </a:extLst>
          </p:cNvPr>
          <p:cNvSpPr/>
          <p:nvPr/>
        </p:nvSpPr>
        <p:spPr>
          <a:xfrm>
            <a:off x="0" y="6771574"/>
            <a:ext cx="9144000" cy="117054"/>
          </a:xfrm>
          <a:prstGeom prst="rect">
            <a:avLst/>
          </a:prstGeom>
          <a:solidFill>
            <a:srgbClr val="332F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136101-D9EE-4903-85CC-8CD4E2CD06E2}"/>
              </a:ext>
            </a:extLst>
          </p:cNvPr>
          <p:cNvSpPr/>
          <p:nvPr/>
        </p:nvSpPr>
        <p:spPr>
          <a:xfrm>
            <a:off x="0" y="6654520"/>
            <a:ext cx="9144000" cy="117054"/>
          </a:xfrm>
          <a:prstGeom prst="rect">
            <a:avLst/>
          </a:prstGeom>
          <a:solidFill>
            <a:srgbClr val="AE251C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2563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08D782-20C8-4598-A8F3-747E12CD7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D328C-B938-4E8D-BA18-D6B4AEAD4513}" type="datetimeFigureOut">
              <a:rPr lang="en-US" smtClean="0"/>
              <a:pPr/>
              <a:t>5/15/2024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B6E63E-6B58-4650-9F90-CE2F91057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91653B-179B-4F04-A161-ACBF7210F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04CF-1B37-45E7-B160-2B0ACE45549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331DA5B-5A5B-4E48-A05F-AB42F70FFF5D}"/>
              </a:ext>
            </a:extLst>
          </p:cNvPr>
          <p:cNvSpPr/>
          <p:nvPr/>
        </p:nvSpPr>
        <p:spPr>
          <a:xfrm>
            <a:off x="0" y="6771574"/>
            <a:ext cx="9144000" cy="117054"/>
          </a:xfrm>
          <a:prstGeom prst="rect">
            <a:avLst/>
          </a:prstGeom>
          <a:solidFill>
            <a:srgbClr val="332F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4674A40-97D2-49BE-9BAC-8FBCC8F93CCD}"/>
              </a:ext>
            </a:extLst>
          </p:cNvPr>
          <p:cNvSpPr/>
          <p:nvPr/>
        </p:nvSpPr>
        <p:spPr>
          <a:xfrm>
            <a:off x="0" y="6654520"/>
            <a:ext cx="9144000" cy="117054"/>
          </a:xfrm>
          <a:prstGeom prst="rect">
            <a:avLst/>
          </a:prstGeom>
          <a:solidFill>
            <a:srgbClr val="AE251C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2302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D328C-B938-4E8D-BA18-D6B4AEAD4513}" type="datetimeFigureOut">
              <a:rPr lang="en-US" smtClean="0"/>
              <a:pPr/>
              <a:t>5/15/2024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04CF-1B37-45E7-B160-2B0ACE45549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C284A5-AAC1-4617-9E19-A03F505F7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277" y="182996"/>
            <a:ext cx="8827078" cy="9335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4A981A-16BF-4617-8EAC-61D33DF233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0277" y="1343892"/>
            <a:ext cx="8827077" cy="50124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389CE9-5C11-4F6D-8B4A-88967385C0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2D328C-B938-4E8D-BA18-D6B4AEAD4513}" type="datetimeFigureOut">
              <a:rPr lang="en-US" smtClean="0"/>
              <a:pPr/>
              <a:t>5/15/2024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C91F2E-40CA-479B-A67D-57AF48BE3D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34DC4F-E754-4B03-86E9-EA275293B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6801" y="6309881"/>
            <a:ext cx="4260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3004CF-1B37-45E7-B160-2B0ACE4554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211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Heltevica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Heltevica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Heltevica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Heltevica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eltevica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eltevic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Shripad</a:t>
            </a:r>
            <a:r>
              <a:rPr lang="en-US" dirty="0"/>
              <a:t> V </a:t>
            </a:r>
            <a:r>
              <a:rPr lang="en-US" dirty="0" err="1"/>
              <a:t>Deshpande</a:t>
            </a:r>
            <a:endParaRPr lang="en-US" dirty="0"/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F6F0AE34-63F6-F533-D947-7471556424A9}"/>
              </a:ext>
            </a:extLst>
          </p:cNvPr>
          <p:cNvSpPr txBox="1">
            <a:spLocks/>
          </p:cNvSpPr>
          <p:nvPr/>
        </p:nvSpPr>
        <p:spPr>
          <a:xfrm>
            <a:off x="1219200" y="389986"/>
            <a:ext cx="6858000" cy="68718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rgbClr val="002060"/>
                </a:solidFill>
                <a:latin typeface="Heltevica"/>
                <a:ea typeface="+mj-ea"/>
                <a:cs typeface="+mj-cs"/>
              </a:defRPr>
            </a:lvl1pPr>
          </a:lstStyle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Embedded Operating Systems</a:t>
            </a:r>
          </a:p>
        </p:txBody>
      </p:sp>
      <p:sp>
        <p:nvSpPr>
          <p:cNvPr id="11" name="Title 3">
            <a:extLst>
              <a:ext uri="{FF2B5EF4-FFF2-40B4-BE49-F238E27FC236}">
                <a16:creationId xmlns:a16="http://schemas.microsoft.com/office/drawing/2014/main" id="{8566400D-B781-CEB9-61BE-840AAD125B6D}"/>
              </a:ext>
            </a:extLst>
          </p:cNvPr>
          <p:cNvSpPr txBox="1">
            <a:spLocks/>
          </p:cNvSpPr>
          <p:nvPr/>
        </p:nvSpPr>
        <p:spPr>
          <a:xfrm>
            <a:off x="1066800" y="1757551"/>
            <a:ext cx="6858000" cy="7599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rgbClr val="002060"/>
                </a:solidFill>
                <a:latin typeface="Heltevica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Operating System Structure</a:t>
            </a:r>
          </a:p>
          <a:p>
            <a:r>
              <a:rPr lang="en-US" sz="28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(Linux)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Linux –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0277" y="1219200"/>
            <a:ext cx="7403523" cy="1362075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en-US" dirty="0"/>
              <a:t>Linux is a Unix clone written from scratch by Finnish Computer </a:t>
            </a:r>
            <a:r>
              <a:rPr lang="en-US" dirty="0" err="1"/>
              <a:t>Enthisiast</a:t>
            </a:r>
            <a:r>
              <a:rPr lang="en-US" dirty="0"/>
              <a:t> Linus Torvalds with assistance from a loosely-knit team of hackers across the Net</a:t>
            </a: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96200" y="1447800"/>
            <a:ext cx="923925" cy="1133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7363BD9-139E-5CE5-B658-BBC75BB5A6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5832" y="2581275"/>
            <a:ext cx="5092330" cy="3810000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3F7193D-051E-25D5-1654-C5D553D3EEBC}"/>
              </a:ext>
            </a:extLst>
          </p:cNvPr>
          <p:cNvSpPr txBox="1">
            <a:spLocks/>
          </p:cNvSpPr>
          <p:nvPr/>
        </p:nvSpPr>
        <p:spPr>
          <a:xfrm>
            <a:off x="228600" y="3200400"/>
            <a:ext cx="2955235" cy="3352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Heltevica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Heltevica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Heltevica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Heltevica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Heltevica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en-US" sz="2000" dirty="0"/>
              <a:t>It all started with a simple e-mail written by Linus on the </a:t>
            </a:r>
            <a:r>
              <a:rPr lang="en-US" sz="2000" dirty="0" err="1"/>
              <a:t>comp.os.minix</a:t>
            </a:r>
            <a:r>
              <a:rPr lang="en-US" sz="2000" dirty="0"/>
              <a:t> discussion forum on 25 Aug 1991, </a:t>
            </a:r>
          </a:p>
          <a:p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Linux – What is it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166254" y="1295400"/>
            <a:ext cx="8775123" cy="51054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Heltevica"/>
              </a:rPr>
              <a:t>The predecessors of Linux are Unix and </a:t>
            </a:r>
            <a:r>
              <a:rPr lang="en-US" sz="2800" dirty="0" err="1">
                <a:latin typeface="Heltevica"/>
              </a:rPr>
              <a:t>Minix</a:t>
            </a:r>
            <a:r>
              <a:rPr lang="en-US" sz="2800" dirty="0">
                <a:latin typeface="Heltevica"/>
              </a:rPr>
              <a:t>. Unix is a multitasking, multi-user computer operating system originally developed in 1969 by a group of AT&amp;T employees at Bell Labs.</a:t>
            </a:r>
          </a:p>
          <a:p>
            <a: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800" dirty="0" err="1">
                <a:latin typeface="Heltevica"/>
              </a:rPr>
              <a:t>Minix</a:t>
            </a:r>
            <a:r>
              <a:rPr lang="en-US" sz="2800" dirty="0">
                <a:latin typeface="Heltevica"/>
              </a:rPr>
              <a:t> was a Unix-like OS written from scratch by Andre Tannenbaum. It was the first OS with freely available source code.</a:t>
            </a:r>
          </a:p>
          <a:p>
            <a: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Heltevica"/>
              </a:rPr>
              <a:t>Linux and Unix strive to be POSIX compliant.</a:t>
            </a:r>
          </a:p>
          <a:p>
            <a: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Heltevica"/>
              </a:rPr>
              <a:t>Over 96.4% of the top 1 million web servers are Linux, and is the only OS used on TOP500 supercomputers in the world</a:t>
            </a:r>
          </a:p>
          <a:p>
            <a: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Heltevica"/>
              </a:rPr>
              <a:t>The Android phone and the Kindle run Linux.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tevic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545853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Linux-Architectur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0" y="1219200"/>
            <a:ext cx="7848600" cy="5132986"/>
          </a:xfrm>
          <a:prstGeom prst="rect">
            <a:avLst/>
          </a:prstGeom>
          <a:noFill/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140277" y="182996"/>
            <a:ext cx="8827078" cy="93359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tevica"/>
                <a:ea typeface="+mj-ea"/>
                <a:cs typeface="+mj-cs"/>
              </a:rPr>
              <a:t>Linux Kernel Architecture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tevica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4191000"/>
            <a:ext cx="8229600" cy="9906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7356" y="353070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US" dirty="0"/>
              <a:t>The Linux Philosophy</a:t>
            </a:r>
            <a:br>
              <a:rPr lang="en-US" dirty="0"/>
            </a:br>
            <a:endParaRPr lang="en-US" sz="3600" dirty="0"/>
          </a:p>
        </p:txBody>
      </p:sp>
      <p:sp>
        <p:nvSpPr>
          <p:cNvPr id="5" name="TextBox 4"/>
          <p:cNvSpPr txBox="1"/>
          <p:nvPr/>
        </p:nvSpPr>
        <p:spPr>
          <a:xfrm>
            <a:off x="470703" y="1417135"/>
            <a:ext cx="8392529" cy="4983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400" b="1" dirty="0">
                <a:latin typeface="Heltevica"/>
              </a:rPr>
              <a:t>Make each program do one thing well</a:t>
            </a:r>
            <a:r>
              <a:rPr lang="en-US" sz="2400" dirty="0">
                <a:latin typeface="Heltevica"/>
              </a:rPr>
              <a:t>. </a:t>
            </a:r>
            <a:r>
              <a:rPr lang="en-US" sz="2000" dirty="0">
                <a:latin typeface="Heltevica"/>
              </a:rPr>
              <a:t>To do a new job, build afresh rather than complicate old programs by adding new features.</a:t>
            </a:r>
            <a:endParaRPr lang="en-US" sz="2400" dirty="0">
              <a:latin typeface="Heltevica"/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400" b="1" dirty="0">
                <a:latin typeface="Heltevica"/>
              </a:rPr>
              <a:t>Expect the output of every program to become the input to another</a:t>
            </a:r>
            <a:r>
              <a:rPr lang="en-US" sz="2400" dirty="0">
                <a:latin typeface="Heltevica"/>
              </a:rPr>
              <a:t>, as yet unknown, program. Don't clutter output with extraneous information. Avoid stringently columnar or binary input formats. Don't insist on interactive input.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400" b="1" dirty="0">
                <a:latin typeface="Heltevica"/>
              </a:rPr>
              <a:t>Use tools in preference to unskilled help to lighten a programming task</a:t>
            </a:r>
            <a:r>
              <a:rPr lang="en-US" sz="2400" dirty="0">
                <a:latin typeface="Heltevica"/>
              </a:rPr>
              <a:t>, even if you have to detour to build the tools and expect to throw some of them out after you've finished using them.</a:t>
            </a:r>
          </a:p>
          <a:p>
            <a:pPr marL="514350" indent="-514350">
              <a:buAutoNum type="romanLcParenBoth"/>
            </a:pPr>
            <a:endParaRPr lang="en-US" sz="2400" dirty="0"/>
          </a:p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71041" y="838200"/>
            <a:ext cx="83925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dirty="0"/>
              <a:t>The *Nix Philosophy of Doug </a:t>
            </a:r>
            <a:r>
              <a:rPr lang="en-US" sz="2400" b="1" i="1" dirty="0" err="1"/>
              <a:t>McIlroy</a:t>
            </a:r>
            <a:endParaRPr lang="en-US" sz="2400" b="1" i="1" dirty="0"/>
          </a:p>
        </p:txBody>
      </p:sp>
    </p:spTree>
    <p:extLst>
      <p:ext uri="{BB962C8B-B14F-4D97-AF65-F5344CB8AC3E}">
        <p14:creationId xmlns:p14="http://schemas.microsoft.com/office/powerpoint/2010/main" val="177546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8EC2E-439D-652D-1D71-DDC71DE82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Embedded Linux Structure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5E5779-6A1D-9B88-F310-38854D7D6D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1283903"/>
            <a:ext cx="6572662" cy="4290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2286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5762" y="228600"/>
            <a:ext cx="8305800" cy="762000"/>
          </a:xfrm>
        </p:spPr>
        <p:txBody>
          <a:bodyPr>
            <a:normAutofit/>
          </a:bodyPr>
          <a:lstStyle/>
          <a:p>
            <a:r>
              <a:rPr lang="en-US" dirty="0"/>
              <a:t>Linux Distributions</a:t>
            </a:r>
          </a:p>
        </p:txBody>
      </p:sp>
      <p:pic>
        <p:nvPicPr>
          <p:cNvPr id="2050" name="Picture 2" descr="http://www.muylinux.com/wp-content/uploads/2009/04/logos-distro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645" y="1371600"/>
            <a:ext cx="9016355" cy="4572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0646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0"/>
            <a:ext cx="7772400" cy="1143000"/>
          </a:xfrm>
        </p:spPr>
        <p:txBody>
          <a:bodyPr/>
          <a:lstStyle/>
          <a:p>
            <a:r>
              <a:rPr lang="en-US" dirty="0"/>
              <a:t>Why Linux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7848600" cy="54102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 Linux Distribution has thousands of dollars worth of software for no cost.</a:t>
            </a:r>
          </a:p>
          <a:p>
            <a:r>
              <a:rPr lang="en-US" dirty="0"/>
              <a:t>Linux is a complete operating system:</a:t>
            </a:r>
          </a:p>
          <a:p>
            <a:pPr lvl="1"/>
            <a:r>
              <a:rPr lang="en-US" dirty="0"/>
              <a:t>Stable - the crash of an application is much less likely to bring down the OS under Linux.</a:t>
            </a:r>
          </a:p>
          <a:p>
            <a:pPr lvl="1"/>
            <a:r>
              <a:rPr lang="en-US" dirty="0"/>
              <a:t>Reliable - Linux servers are often up for hundreds of days compared with the regular reboots required with a Windows system.</a:t>
            </a:r>
          </a:p>
          <a:p>
            <a:pPr lvl="1"/>
            <a:r>
              <a:rPr lang="en-US" dirty="0"/>
              <a:t>Extremely powerful</a:t>
            </a:r>
          </a:p>
          <a:p>
            <a:r>
              <a:rPr lang="en-US" dirty="0"/>
              <a:t>Linux provides a complete development environment. </a:t>
            </a:r>
          </a:p>
          <a:p>
            <a:r>
              <a:rPr lang="en-US" dirty="0"/>
              <a:t>Excellent networking facilities</a:t>
            </a:r>
          </a:p>
          <a:p>
            <a:r>
              <a:rPr lang="en-US" dirty="0"/>
              <a:t>Ideal environment to run servers such as a web server, or an ftp server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0"/>
            <a:ext cx="7772400" cy="838200"/>
          </a:xfrm>
        </p:spPr>
        <p:txBody>
          <a:bodyPr/>
          <a:lstStyle/>
          <a:p>
            <a:r>
              <a:rPr lang="en-US" dirty="0"/>
              <a:t>Why Linux (cont…)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219200"/>
            <a:ext cx="8458200" cy="5638800"/>
          </a:xfrm>
        </p:spPr>
        <p:txBody>
          <a:bodyPr>
            <a:normAutofit/>
          </a:bodyPr>
          <a:lstStyle/>
          <a:p>
            <a:r>
              <a:rPr lang="en-US" sz="2800" dirty="0"/>
              <a:t>A wide variety of commercial software is available if not satisfied by the free software</a:t>
            </a:r>
          </a:p>
          <a:p>
            <a:r>
              <a:rPr lang="en-US" sz="2800" dirty="0"/>
              <a:t>Easily upgradable.</a:t>
            </a:r>
          </a:p>
          <a:p>
            <a:r>
              <a:rPr lang="en-US" sz="2800" dirty="0"/>
              <a:t>Supports multiple processors.</a:t>
            </a:r>
          </a:p>
          <a:p>
            <a:r>
              <a:rPr lang="en-US" sz="2800" dirty="0"/>
              <a:t>True multi-tasking, multi-user OS.</a:t>
            </a:r>
          </a:p>
          <a:p>
            <a:r>
              <a:rPr lang="en-US" sz="2800" dirty="0"/>
              <a:t>An excellent window system called X, the equivalent of Windows but much more flexible.</a:t>
            </a:r>
          </a:p>
          <a:p>
            <a:r>
              <a:rPr lang="en-US" sz="2800" dirty="0"/>
              <a:t>Full source code is provided and free.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0"/>
            <a:ext cx="7772400" cy="838200"/>
          </a:xfrm>
        </p:spPr>
        <p:txBody>
          <a:bodyPr/>
          <a:lstStyle/>
          <a:p>
            <a:r>
              <a:rPr lang="en-US" dirty="0"/>
              <a:t>Why Linux for </a:t>
            </a:r>
            <a:r>
              <a:rPr lang="en-US" dirty="0" err="1"/>
              <a:t>embeded</a:t>
            </a:r>
            <a:endParaRPr lang="en-US" dirty="0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219200"/>
            <a:ext cx="8458200" cy="5638800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Cross-compilation for any supported platform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Community reflection of Common Vulnerabilities and Exposures (CVE) fixes in updated releases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Deployment to commonly used Linux infrastructure and tools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Modern, cloud-native environment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Broad hardware support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Product lifecycle through community LTS</a:t>
            </a:r>
          </a:p>
        </p:txBody>
      </p:sp>
    </p:spTree>
    <p:extLst>
      <p:ext uri="{BB962C8B-B14F-4D97-AF65-F5344CB8AC3E}">
        <p14:creationId xmlns:p14="http://schemas.microsoft.com/office/powerpoint/2010/main" val="934509479"/>
      </p:ext>
    </p:extLst>
  </p:cSld>
  <p:clrMapOvr>
    <a:masterClrMapping/>
  </p:clrMapOvr>
</p:sld>
</file>

<file path=ppt/theme/theme1.xml><?xml version="1.0" encoding="utf-8"?>
<a:theme xmlns:a="http://schemas.openxmlformats.org/drawingml/2006/main" name="SITpresentation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resentation1" id="{9373934A-9758-4286-A45B-5F131CACE0BD}" vid="{1C888272-DC3C-4536-B28E-19F3F7FDC48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SITpresentationTheme</Template>
  <TotalTime>1881</TotalTime>
  <Words>522</Words>
  <Application>Microsoft Office PowerPoint</Application>
  <PresentationFormat>On-screen Show (4:3)</PresentationFormat>
  <Paragraphs>48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Heltevica</vt:lpstr>
      <vt:lpstr>roboto</vt:lpstr>
      <vt:lpstr>Times New Roman</vt:lpstr>
      <vt:lpstr>SITpresentationTheme</vt:lpstr>
      <vt:lpstr>PowerPoint Presentation</vt:lpstr>
      <vt:lpstr>Linux – history</vt:lpstr>
      <vt:lpstr>Linux – What is it</vt:lpstr>
      <vt:lpstr>PowerPoint Presentation</vt:lpstr>
      <vt:lpstr>The Linux Philosophy </vt:lpstr>
      <vt:lpstr>Embedded Linux Structure</vt:lpstr>
      <vt:lpstr>Linux Distributions</vt:lpstr>
      <vt:lpstr>Why Linux</vt:lpstr>
      <vt:lpstr>Why Linux (cont…)</vt:lpstr>
      <vt:lpstr>Why Linux for embeded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shripad</dc:creator>
  <cp:lastModifiedBy>deshpande.shripad2@gmail.com</cp:lastModifiedBy>
  <cp:revision>25</cp:revision>
  <dcterms:created xsi:type="dcterms:W3CDTF">2020-06-22T05:24:12Z</dcterms:created>
  <dcterms:modified xsi:type="dcterms:W3CDTF">2024-05-15T04:48:24Z</dcterms:modified>
</cp:coreProperties>
</file>