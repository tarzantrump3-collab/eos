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81" r:id="rId4"/>
    <p:sldId id="265" r:id="rId5"/>
    <p:sldId id="267" r:id="rId6"/>
    <p:sldId id="268" r:id="rId7"/>
    <p:sldId id="269" r:id="rId8"/>
    <p:sldId id="270" r:id="rId9"/>
    <p:sldId id="271" r:id="rId10"/>
    <p:sldId id="272" r:id="rId11"/>
    <p:sldId id="273" r:id="rId12"/>
    <p:sldId id="274" r:id="rId13"/>
    <p:sldId id="286" r:id="rId14"/>
    <p:sldId id="280" r:id="rId15"/>
    <p:sldId id="282" r:id="rId16"/>
    <p:sldId id="28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28" autoAdjust="0"/>
  </p:normalViewPr>
  <p:slideViewPr>
    <p:cSldViewPr>
      <p:cViewPr varScale="1">
        <p:scale>
          <a:sx n="77" d="100"/>
          <a:sy n="77" d="100"/>
        </p:scale>
        <p:origin x="161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70A66E-CF90-4D93-A881-2709D5B51061}" type="datetimeFigureOut">
              <a:rPr lang="en-US" smtClean="0"/>
              <a:pPr/>
              <a:t>5/14/2024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B65CB4-A102-4CFC-AF73-CA3B1F55BA1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B65CB4-A102-4CFC-AF73-CA3B1F55BA1B}" type="slidenum">
              <a:rPr lang="en-US" smtClean="0"/>
              <a:pPr/>
              <a:t>12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B65CB4-A102-4CFC-AF73-CA3B1F55BA1B}" type="slidenum">
              <a:rPr lang="en-US" smtClean="0"/>
              <a:pPr/>
              <a:t>13</a:t>
            </a:fld>
            <a:endParaRPr lang="en-US"/>
          </a:p>
        </p:txBody>
      </p:sp>
    </p:spTree>
    <p:extLst>
      <p:ext uri="{BB962C8B-B14F-4D97-AF65-F5344CB8AC3E}">
        <p14:creationId xmlns:p14="http://schemas.microsoft.com/office/powerpoint/2010/main" val="581934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8"/>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29"/>
            <a:ext cx="6858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1892448"/>
            <a:ext cx="6858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0"/>
            <a:ext cx="6858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2385799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594B-7319-4482-9AE6-EC74EAE59749}"/>
              </a:ext>
            </a:extLst>
          </p:cNvPr>
          <p:cNvSpPr>
            <a:spLocks noGrp="1"/>
          </p:cNvSpPr>
          <p:nvPr>
            <p:ph type="title"/>
          </p:nvPr>
        </p:nvSpPr>
        <p:spPr/>
        <p:txBody>
          <a:bodyPr>
            <a:normAutofit/>
          </a:bodyPr>
          <a:lstStyle>
            <a:lvl1pPr>
              <a:defRPr sz="4400" b="0">
                <a:solidFill>
                  <a:srgbClr val="332F67"/>
                </a:solidFill>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479A3243-F8F1-4735-84CB-DA267F6B0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77AE67-A40B-4B1F-A27D-C82248E89D6E}"/>
              </a:ext>
            </a:extLst>
          </p:cNvPr>
          <p:cNvSpPr>
            <a:spLocks noGrp="1"/>
          </p:cNvSpPr>
          <p:nvPr>
            <p:ph type="dt" sz="half" idx="10"/>
          </p:nvPr>
        </p:nvSpPr>
        <p:spPr/>
        <p:txBody>
          <a:bodyPr/>
          <a:lstStyle/>
          <a:p>
            <a:fld id="{B42D328C-B938-4E8D-BA18-D6B4AEAD4513}" type="datetimeFigureOut">
              <a:rPr lang="en-US" smtClean="0"/>
              <a:pPr/>
              <a:t>5/14/2024</a:t>
            </a:fld>
            <a:endParaRPr lang="en-US"/>
          </a:p>
        </p:txBody>
      </p:sp>
      <p:sp>
        <p:nvSpPr>
          <p:cNvPr id="5" name="Footer Placeholder 4">
            <a:extLst>
              <a:ext uri="{FF2B5EF4-FFF2-40B4-BE49-F238E27FC236}">
                <a16:creationId xmlns:a16="http://schemas.microsoft.com/office/drawing/2014/main" id="{3D77F67E-3AA0-4A75-BE19-C1FBBDF8929B}"/>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88852C82-4A16-49D7-B656-0C87A0035C91}"/>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8" name="Rectangle 7">
            <a:extLst>
              <a:ext uri="{FF2B5EF4-FFF2-40B4-BE49-F238E27FC236}">
                <a16:creationId xmlns:a16="http://schemas.microsoft.com/office/drawing/2014/main" id="{B26B0F06-65D7-4190-8F22-D7DE75D4ECA7}"/>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74162228-2F01-4EEE-AD7A-2F409DF7C57C}"/>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21410FE-2DC4-4765-BF39-99EFA09F0274}"/>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lide Number Placeholder 5">
            <a:extLst>
              <a:ext uri="{FF2B5EF4-FFF2-40B4-BE49-F238E27FC236}">
                <a16:creationId xmlns:a16="http://schemas.microsoft.com/office/drawing/2014/main" id="{81ADC20A-2C04-4929-9AFF-53516860E0A9}"/>
              </a:ext>
            </a:extLst>
          </p:cNvPr>
          <p:cNvSpPr>
            <a:spLocks noGrp="1"/>
          </p:cNvSpPr>
          <p:nvPr>
            <p:ph type="sldNum" sz="quarter" idx="4"/>
          </p:nvPr>
        </p:nvSpPr>
        <p:spPr>
          <a:xfrm>
            <a:off x="8686801" y="6309881"/>
            <a:ext cx="426026"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9F3004CF-1B37-45E7-B160-2B0ACE45549B}" type="slidenum">
              <a:rPr lang="en-US" smtClean="0"/>
              <a:pPr/>
              <a:t>‹#›</a:t>
            </a:fld>
            <a:endParaRPr lang="en-US"/>
          </a:p>
        </p:txBody>
      </p:sp>
    </p:spTree>
    <p:extLst>
      <p:ext uri="{BB962C8B-B14F-4D97-AF65-F5344CB8AC3E}">
        <p14:creationId xmlns:p14="http://schemas.microsoft.com/office/powerpoint/2010/main" val="95451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B0FE-B0C9-46D8-967A-59F65C29CA62}"/>
              </a:ext>
            </a:extLst>
          </p:cNvPr>
          <p:cNvSpPr>
            <a:spLocks noGrp="1"/>
          </p:cNvSpPr>
          <p:nvPr>
            <p:ph type="title"/>
          </p:nvPr>
        </p:nvSpPr>
        <p:spPr/>
        <p:txBody>
          <a:bodyPr>
            <a:normAutofit/>
          </a:bodyPr>
          <a:lstStyle>
            <a:lvl1pPr>
              <a:defRPr lang="en-IN" sz="4400" b="0" kern="1200" dirty="0">
                <a:solidFill>
                  <a:srgbClr val="332F67"/>
                </a:solidFill>
                <a:latin typeface="Heltevica"/>
                <a:ea typeface="+mj-ea"/>
                <a:cs typeface="+mj-cs"/>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A3B0EF4-6523-4FDF-9387-11EDF933572F}"/>
              </a:ext>
            </a:extLst>
          </p:cNvPr>
          <p:cNvSpPr>
            <a:spLocks noGrp="1"/>
          </p:cNvSpPr>
          <p:nvPr>
            <p:ph sz="half" idx="1"/>
          </p:nvPr>
        </p:nvSpPr>
        <p:spPr>
          <a:xfrm>
            <a:off x="264968" y="1231164"/>
            <a:ext cx="3990110"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Content Placeholder 3">
            <a:extLst>
              <a:ext uri="{FF2B5EF4-FFF2-40B4-BE49-F238E27FC236}">
                <a16:creationId xmlns:a16="http://schemas.microsoft.com/office/drawing/2014/main" id="{4735B17C-E2ED-4325-9395-D7777E4E00B0}"/>
              </a:ext>
            </a:extLst>
          </p:cNvPr>
          <p:cNvSpPr>
            <a:spLocks noGrp="1"/>
          </p:cNvSpPr>
          <p:nvPr>
            <p:ph sz="half" idx="2"/>
          </p:nvPr>
        </p:nvSpPr>
        <p:spPr>
          <a:xfrm>
            <a:off x="4333009" y="1243731"/>
            <a:ext cx="4436918"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Date Placeholder 4">
            <a:extLst>
              <a:ext uri="{FF2B5EF4-FFF2-40B4-BE49-F238E27FC236}">
                <a16:creationId xmlns:a16="http://schemas.microsoft.com/office/drawing/2014/main" id="{855CC4BF-0660-43CA-8A30-0CC8E64C82A7}"/>
              </a:ext>
            </a:extLst>
          </p:cNvPr>
          <p:cNvSpPr>
            <a:spLocks noGrp="1"/>
          </p:cNvSpPr>
          <p:nvPr>
            <p:ph type="dt" sz="half" idx="10"/>
          </p:nvPr>
        </p:nvSpPr>
        <p:spPr/>
        <p:txBody>
          <a:bodyPr/>
          <a:lstStyle/>
          <a:p>
            <a:fld id="{B42D328C-B938-4E8D-BA18-D6B4AEAD4513}" type="datetimeFigureOut">
              <a:rPr lang="en-US" smtClean="0"/>
              <a:pPr/>
              <a:t>5/14/2024</a:t>
            </a:fld>
            <a:endParaRPr lang="en-US"/>
          </a:p>
        </p:txBody>
      </p:sp>
      <p:sp>
        <p:nvSpPr>
          <p:cNvPr id="6" name="Footer Placeholder 5">
            <a:extLst>
              <a:ext uri="{FF2B5EF4-FFF2-40B4-BE49-F238E27FC236}">
                <a16:creationId xmlns:a16="http://schemas.microsoft.com/office/drawing/2014/main" id="{EE034424-C002-49F8-9B63-DD7D1B680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5CBC22-DB28-4B66-B924-84922D8951C0}"/>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8" name="Rectangle 7">
            <a:extLst>
              <a:ext uri="{FF2B5EF4-FFF2-40B4-BE49-F238E27FC236}">
                <a16:creationId xmlns:a16="http://schemas.microsoft.com/office/drawing/2014/main" id="{DBBF6B60-A9C1-4A07-B32C-8CCFFCF40A4A}"/>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9" name="Rectangle 8">
            <a:extLst>
              <a:ext uri="{FF2B5EF4-FFF2-40B4-BE49-F238E27FC236}">
                <a16:creationId xmlns:a16="http://schemas.microsoft.com/office/drawing/2014/main" id="{34925A20-BC26-4C02-90BC-3AB92E6F8C61}"/>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C0637D2-E321-490D-B3C1-96A1BC775909}"/>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FB19C0D-B89C-4FFC-B92A-792486AF17A5}"/>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2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2B25-6E11-4856-AAF4-F22FE611F78B}"/>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IN" sz="4400" b="0" kern="1200" dirty="0">
                <a:solidFill>
                  <a:srgbClr val="332F67"/>
                </a:solidFill>
                <a:latin typeface="Heltevica"/>
                <a:ea typeface="+mj-ea"/>
                <a:cs typeface="+mj-cs"/>
              </a:defRPr>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93354B81-59A8-48C7-8518-D239829056EB}"/>
              </a:ext>
            </a:extLst>
          </p:cNvPr>
          <p:cNvSpPr>
            <a:spLocks noGrp="1"/>
          </p:cNvSpPr>
          <p:nvPr>
            <p:ph type="dt" sz="half" idx="10"/>
          </p:nvPr>
        </p:nvSpPr>
        <p:spPr/>
        <p:txBody>
          <a:bodyPr/>
          <a:lstStyle/>
          <a:p>
            <a:fld id="{B42D328C-B938-4E8D-BA18-D6B4AEAD4513}" type="datetimeFigureOut">
              <a:rPr lang="en-US" smtClean="0"/>
              <a:pPr/>
              <a:t>5/14/2024</a:t>
            </a:fld>
            <a:endParaRPr lang="en-US"/>
          </a:p>
        </p:txBody>
      </p:sp>
      <p:sp>
        <p:nvSpPr>
          <p:cNvPr id="4" name="Footer Placeholder 3">
            <a:extLst>
              <a:ext uri="{FF2B5EF4-FFF2-40B4-BE49-F238E27FC236}">
                <a16:creationId xmlns:a16="http://schemas.microsoft.com/office/drawing/2014/main" id="{982351E8-DFDA-4AD5-9E81-156C7B0142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4DAFD8-4E1C-423C-A8FA-9E4FEB75762A}"/>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6" name="Rectangle 5">
            <a:extLst>
              <a:ext uri="{FF2B5EF4-FFF2-40B4-BE49-F238E27FC236}">
                <a16:creationId xmlns:a16="http://schemas.microsoft.com/office/drawing/2014/main" id="{71DD4527-3A5E-46B2-AA54-9FC0A20A1C84}"/>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7" name="Rectangle 6">
            <a:extLst>
              <a:ext uri="{FF2B5EF4-FFF2-40B4-BE49-F238E27FC236}">
                <a16:creationId xmlns:a16="http://schemas.microsoft.com/office/drawing/2014/main" id="{484CADB4-9D46-4FD2-9DBB-A9F7CA16CC48}"/>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F3F78242-09F0-4E23-AD0E-752F68E18A56}"/>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E136101-D9EE-4903-85CC-8CD4E2CD06E2}"/>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4256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8D782-20C8-4598-A8F3-747E12CD7E1A}"/>
              </a:ext>
            </a:extLst>
          </p:cNvPr>
          <p:cNvSpPr>
            <a:spLocks noGrp="1"/>
          </p:cNvSpPr>
          <p:nvPr>
            <p:ph type="dt" sz="half" idx="10"/>
          </p:nvPr>
        </p:nvSpPr>
        <p:spPr/>
        <p:txBody>
          <a:bodyPr/>
          <a:lstStyle/>
          <a:p>
            <a:fld id="{B42D328C-B938-4E8D-BA18-D6B4AEAD4513}" type="datetimeFigureOut">
              <a:rPr lang="en-US" smtClean="0"/>
              <a:pPr/>
              <a:t>5/14/2024</a:t>
            </a:fld>
            <a:endParaRPr lang="en-US"/>
          </a:p>
        </p:txBody>
      </p:sp>
      <p:sp>
        <p:nvSpPr>
          <p:cNvPr id="3" name="Footer Placeholder 2">
            <a:extLst>
              <a:ext uri="{FF2B5EF4-FFF2-40B4-BE49-F238E27FC236}">
                <a16:creationId xmlns:a16="http://schemas.microsoft.com/office/drawing/2014/main" id="{0FB6E63E-6B58-4650-9F90-CE2F91057B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91653B-179B-4F04-A161-ACBF7210F1EC}"/>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8" name="Rectangle 7">
            <a:extLst>
              <a:ext uri="{FF2B5EF4-FFF2-40B4-BE49-F238E27FC236}">
                <a16:creationId xmlns:a16="http://schemas.microsoft.com/office/drawing/2014/main" id="{6331DA5B-5A5B-4E48-A05F-AB42F70FFF5D}"/>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4674A40-97D2-49BE-9BAC-8FBCC8F93CCD}"/>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523028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C284A5-AAC1-4617-9E19-A03F505F72A1}"/>
              </a:ext>
            </a:extLst>
          </p:cNvPr>
          <p:cNvSpPr>
            <a:spLocks noGrp="1"/>
          </p:cNvSpPr>
          <p:nvPr>
            <p:ph type="title"/>
          </p:nvPr>
        </p:nvSpPr>
        <p:spPr>
          <a:xfrm>
            <a:off x="140277" y="182996"/>
            <a:ext cx="8827078" cy="933595"/>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354A981A-16BF-4617-8EAC-61D33DF233F1}"/>
              </a:ext>
            </a:extLst>
          </p:cNvPr>
          <p:cNvSpPr>
            <a:spLocks noGrp="1"/>
          </p:cNvSpPr>
          <p:nvPr>
            <p:ph type="body" idx="1"/>
          </p:nvPr>
        </p:nvSpPr>
        <p:spPr>
          <a:xfrm>
            <a:off x="140277" y="1343892"/>
            <a:ext cx="8827077" cy="50124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EF389CE9-5C11-4F6D-8B4A-88967385C01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2D328C-B938-4E8D-BA18-D6B4AEAD4513}" type="datetimeFigureOut">
              <a:rPr lang="en-US" smtClean="0"/>
              <a:pPr/>
              <a:t>5/14/2024</a:t>
            </a:fld>
            <a:endParaRPr lang="en-US"/>
          </a:p>
        </p:txBody>
      </p:sp>
      <p:sp>
        <p:nvSpPr>
          <p:cNvPr id="5" name="Footer Placeholder 4">
            <a:extLst>
              <a:ext uri="{FF2B5EF4-FFF2-40B4-BE49-F238E27FC236}">
                <a16:creationId xmlns:a16="http://schemas.microsoft.com/office/drawing/2014/main" id="{76C91F2E-40CA-479B-A67D-57AF48BE3D7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34DC4F-E754-4B03-86E9-EA275293B0EE}"/>
              </a:ext>
            </a:extLst>
          </p:cNvPr>
          <p:cNvSpPr>
            <a:spLocks noGrp="1"/>
          </p:cNvSpPr>
          <p:nvPr>
            <p:ph type="sldNum" sz="quarter" idx="4"/>
          </p:nvPr>
        </p:nvSpPr>
        <p:spPr>
          <a:xfrm>
            <a:off x="8686801" y="6309881"/>
            <a:ext cx="426026"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9F3004CF-1B37-45E7-B160-2B0ACE45549B}" type="slidenum">
              <a:rPr lang="en-US" smtClean="0"/>
              <a:pPr/>
              <a:t>‹#›</a:t>
            </a:fld>
            <a:endParaRPr lang="en-US"/>
          </a:p>
        </p:txBody>
      </p:sp>
    </p:spTree>
    <p:extLst>
      <p:ext uri="{BB962C8B-B14F-4D97-AF65-F5344CB8AC3E}">
        <p14:creationId xmlns:p14="http://schemas.microsoft.com/office/powerpoint/2010/main" val="18812113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Heltevic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tevic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tevic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tevic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tevic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tevic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81000" y="3271450"/>
            <a:ext cx="8382000" cy="508721"/>
          </a:xfrm>
        </p:spPr>
        <p:txBody>
          <a:bodyPr>
            <a:noAutofit/>
          </a:bodyPr>
          <a:lstStyle/>
          <a:p>
            <a:r>
              <a:rPr lang="en-US" sz="2400" dirty="0">
                <a:latin typeface="Century Schoolbook" panose="02040604050505020304" pitchFamily="18" charset="0"/>
              </a:rPr>
              <a:t>1.1 Basics of OS</a:t>
            </a:r>
          </a:p>
        </p:txBody>
      </p:sp>
      <p:sp>
        <p:nvSpPr>
          <p:cNvPr id="5" name="Subtitle 4"/>
          <p:cNvSpPr>
            <a:spLocks noGrp="1"/>
          </p:cNvSpPr>
          <p:nvPr>
            <p:ph type="subTitle" idx="1"/>
          </p:nvPr>
        </p:nvSpPr>
        <p:spPr/>
        <p:txBody>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1219200" y="389986"/>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1066800" y="1757551"/>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1 Introduction to Operating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an Operating System (OS)?</a:t>
            </a:r>
          </a:p>
        </p:txBody>
      </p:sp>
      <p:sp>
        <p:nvSpPr>
          <p:cNvPr id="5" name="Content Placeholder 2"/>
          <p:cNvSpPr>
            <a:spLocks noGrp="1"/>
          </p:cNvSpPr>
          <p:nvPr>
            <p:ph idx="1"/>
          </p:nvPr>
        </p:nvSpPr>
        <p:spPr>
          <a:xfrm>
            <a:off x="457200" y="1164319"/>
            <a:ext cx="8229600" cy="4093481"/>
          </a:xfrm>
        </p:spPr>
        <p:txBody>
          <a:bodyPr>
            <a:normAutofit lnSpcReduction="10000"/>
          </a:bodyPr>
          <a:lstStyle/>
          <a:p>
            <a:pPr>
              <a:lnSpc>
                <a:spcPct val="120000"/>
              </a:lnSpc>
              <a:spcBef>
                <a:spcPts val="0"/>
              </a:spcBef>
            </a:pPr>
            <a:r>
              <a:rPr lang="en-IN" dirty="0">
                <a:solidFill>
                  <a:srgbClr val="00B0F0"/>
                </a:solidFill>
              </a:rPr>
              <a:t>Intermediary agent </a:t>
            </a:r>
            <a:r>
              <a:rPr lang="en-IN" dirty="0"/>
              <a:t>between the user and the computer hardware. Hides details about the hardware from the user.</a:t>
            </a:r>
          </a:p>
          <a:p>
            <a:pPr>
              <a:lnSpc>
                <a:spcPct val="120000"/>
              </a:lnSpc>
              <a:spcBef>
                <a:spcPts val="0"/>
              </a:spcBef>
            </a:pPr>
            <a:r>
              <a:rPr lang="en-IN" dirty="0">
                <a:solidFill>
                  <a:srgbClr val="00B0F0"/>
                </a:solidFill>
              </a:rPr>
              <a:t>Service Provider </a:t>
            </a:r>
            <a:r>
              <a:rPr lang="en-IN" dirty="0"/>
              <a:t>- primarily provides services for running applications on a computer system</a:t>
            </a:r>
          </a:p>
          <a:p>
            <a:pPr>
              <a:lnSpc>
                <a:spcPct val="120000"/>
              </a:lnSpc>
              <a:spcBef>
                <a:spcPts val="0"/>
              </a:spcBef>
            </a:pPr>
            <a:r>
              <a:rPr lang="en-IN" dirty="0"/>
              <a:t>acts as a </a:t>
            </a:r>
            <a:r>
              <a:rPr lang="en-IN" dirty="0">
                <a:solidFill>
                  <a:srgbClr val="00B0F0"/>
                </a:solidFill>
              </a:rPr>
              <a:t>Resource Manager</a:t>
            </a:r>
            <a:r>
              <a:rPr lang="en-IN" dirty="0"/>
              <a:t> of a system. </a:t>
            </a:r>
          </a:p>
          <a:p>
            <a:pPr lvl="1">
              <a:lnSpc>
                <a:spcPct val="120000"/>
              </a:lnSpc>
              <a:spcBef>
                <a:spcPts val="0"/>
              </a:spcBef>
            </a:pPr>
            <a:r>
              <a:rPr lang="en-IN" sz="2000" dirty="0"/>
              <a:t>It manages the processor, memory</a:t>
            </a:r>
            <a:r>
              <a:rPr lang="en-US" sz="2000" dirty="0"/>
              <a:t>, and I/O devices like mouse, modem, keyboard, etc., and also a set of unlimited peripherals that we plug in</a:t>
            </a:r>
            <a:r>
              <a:rPr lang="en-IN" sz="2000" dirty="0"/>
              <a:t> and unplug from it.</a:t>
            </a:r>
            <a:endParaRPr lang="en-IN" dirty="0"/>
          </a:p>
          <a:p>
            <a:pPr marL="0" lvl="1" indent="0">
              <a:lnSpc>
                <a:spcPct val="150000"/>
              </a:lnSpc>
              <a:buNone/>
            </a:pPr>
            <a:endParaRPr lang="en-IN" dirty="0"/>
          </a:p>
          <a:p>
            <a:pPr>
              <a:lnSpc>
                <a:spcPct val="150000"/>
              </a:lnSpc>
            </a:pPr>
            <a:endParaRPr lang="en-IN" dirty="0"/>
          </a:p>
          <a:p>
            <a:pPr>
              <a:lnSpc>
                <a:spcPct val="150000"/>
              </a:lnSpc>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an Operating System (OS)?</a:t>
            </a:r>
          </a:p>
        </p:txBody>
      </p:sp>
      <p:sp>
        <p:nvSpPr>
          <p:cNvPr id="5" name="Content Placeholder 2"/>
          <p:cNvSpPr>
            <a:spLocks noGrp="1"/>
          </p:cNvSpPr>
          <p:nvPr>
            <p:ph idx="1"/>
          </p:nvPr>
        </p:nvSpPr>
        <p:spPr>
          <a:xfrm>
            <a:off x="457200" y="1382259"/>
            <a:ext cx="8229600" cy="3494541"/>
          </a:xfrm>
        </p:spPr>
        <p:txBody>
          <a:bodyPr>
            <a:normAutofit/>
          </a:bodyPr>
          <a:lstStyle/>
          <a:p>
            <a:pPr algn="just" rtl="0" fontAlgn="base"/>
            <a:r>
              <a:rPr lang="en-US" dirty="0">
                <a:solidFill>
                  <a:srgbClr val="00B0F0"/>
                </a:solidFill>
              </a:rPr>
              <a:t>controlling and monitoring agent </a:t>
            </a:r>
            <a:r>
              <a:rPr lang="en-US" dirty="0"/>
              <a:t>to check </a:t>
            </a:r>
            <a:r>
              <a:rPr lang="en-US" dirty="0">
                <a:effectLst/>
                <a:latin typeface="var(--font-secondary)"/>
              </a:rPr>
              <a:t>the execution of all other programs that reside in the computer - application programs and other system software</a:t>
            </a:r>
          </a:p>
          <a:p>
            <a:pPr algn="just" rtl="0" fontAlgn="base"/>
            <a:r>
              <a:rPr lang="en-US" dirty="0">
                <a:effectLst/>
                <a:latin typeface="var(--font-secondary)"/>
              </a:rPr>
              <a:t>acts as an </a:t>
            </a:r>
            <a:r>
              <a:rPr lang="en-US" dirty="0">
                <a:solidFill>
                  <a:srgbClr val="00B0F0"/>
                </a:solidFill>
              </a:rPr>
              <a:t>interface</a:t>
            </a:r>
            <a:r>
              <a:rPr lang="en-US" dirty="0">
                <a:effectLst/>
                <a:latin typeface="var(--font-secondary)"/>
              </a:rPr>
              <a:t> between the software and different parts of the computer or the computer hardware.</a:t>
            </a:r>
          </a:p>
          <a:p>
            <a:pPr algn="just" rtl="0" fontAlgn="base"/>
            <a:r>
              <a:rPr lang="en-US" dirty="0">
                <a:latin typeface="var(--font-secondary)"/>
              </a:rPr>
              <a:t>Examples :</a:t>
            </a:r>
            <a:endParaRPr lang="en-IN" dirty="0"/>
          </a:p>
        </p:txBody>
      </p:sp>
      <p:pic>
        <p:nvPicPr>
          <p:cNvPr id="3" name="Picture 2" descr="http://www.technologydatagroup.com/img/pageimg/os.jpg">
            <a:extLst>
              <a:ext uri="{FF2B5EF4-FFF2-40B4-BE49-F238E27FC236}">
                <a16:creationId xmlns:a16="http://schemas.microsoft.com/office/drawing/2014/main" id="{14718C21-7D12-C2B2-7B6D-3BF60D341D5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9717"/>
          <a:stretch/>
        </p:blipFill>
        <p:spPr bwMode="auto">
          <a:xfrm>
            <a:off x="878314" y="4953000"/>
            <a:ext cx="3693686" cy="12384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http://www.technologydatagroup.com/img/pageimg/os.jpg">
            <a:extLst>
              <a:ext uri="{FF2B5EF4-FFF2-40B4-BE49-F238E27FC236}">
                <a16:creationId xmlns:a16="http://schemas.microsoft.com/office/drawing/2014/main" id="{49145D77-4677-767E-2EE0-FB9249AE01A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9757"/>
          <a:stretch/>
        </p:blipFill>
        <p:spPr bwMode="auto">
          <a:xfrm>
            <a:off x="4648200" y="4953000"/>
            <a:ext cx="3693686" cy="1237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450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 Goals</a:t>
            </a:r>
          </a:p>
        </p:txBody>
      </p:sp>
      <p:sp>
        <p:nvSpPr>
          <p:cNvPr id="3" name="Content Placeholder 2"/>
          <p:cNvSpPr>
            <a:spLocks noGrp="1"/>
          </p:cNvSpPr>
          <p:nvPr>
            <p:ph idx="1"/>
          </p:nvPr>
        </p:nvSpPr>
        <p:spPr>
          <a:xfrm>
            <a:off x="140277" y="1343892"/>
            <a:ext cx="4431723" cy="5012458"/>
          </a:xfrm>
        </p:spPr>
        <p:txBody>
          <a:bodyPr>
            <a:normAutofit fontScale="92500" lnSpcReduction="10000"/>
          </a:bodyPr>
          <a:lstStyle/>
          <a:p>
            <a:pPr marL="342900" lvl="1" indent="-342900">
              <a:lnSpc>
                <a:spcPct val="150000"/>
              </a:lnSpc>
            </a:pPr>
            <a:r>
              <a:rPr lang="en-US" dirty="0"/>
              <a:t>Execute user programs and make solving user problems easier</a:t>
            </a:r>
          </a:p>
          <a:p>
            <a:pPr marL="342900" lvl="1" indent="-342900">
              <a:lnSpc>
                <a:spcPct val="150000"/>
              </a:lnSpc>
            </a:pPr>
            <a:r>
              <a:rPr lang="en-US" dirty="0"/>
              <a:t>Make the computer system convenient and easy to use</a:t>
            </a:r>
          </a:p>
          <a:p>
            <a:pPr marL="342900" lvl="1" indent="-342900">
              <a:lnSpc>
                <a:spcPct val="150000"/>
              </a:lnSpc>
            </a:pPr>
            <a:r>
              <a:rPr lang="en-US" dirty="0"/>
              <a:t>Use the computer hardware resources in an efficient manner</a:t>
            </a:r>
          </a:p>
          <a:p>
            <a:pPr marL="342900" lvl="1" indent="-342900">
              <a:lnSpc>
                <a:spcPct val="150000"/>
              </a:lnSpc>
            </a:pPr>
            <a:r>
              <a:rPr lang="en-US" dirty="0"/>
              <a:t>Treat CPU, Memory, I/O devices and other peripherals as resources and make their usage efficient and fair. </a:t>
            </a:r>
          </a:p>
          <a:p>
            <a:endParaRPr lang="en-US" dirty="0"/>
          </a:p>
        </p:txBody>
      </p:sp>
      <p:pic>
        <p:nvPicPr>
          <p:cNvPr id="4" name="Content Placeholder 4" descr="https://natwells.files.wordpress.com/2013/11/293px-role_of_an_operating_system-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752600"/>
            <a:ext cx="3752789" cy="41242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Functions Performed by an OS</a:t>
            </a:r>
          </a:p>
        </p:txBody>
      </p:sp>
      <p:sp>
        <p:nvSpPr>
          <p:cNvPr id="3" name="Content Placeholder 2"/>
          <p:cNvSpPr>
            <a:spLocks noGrp="1"/>
          </p:cNvSpPr>
          <p:nvPr>
            <p:ph idx="1"/>
          </p:nvPr>
        </p:nvSpPr>
        <p:spPr>
          <a:xfrm>
            <a:off x="140277" y="1343892"/>
            <a:ext cx="4431723" cy="5012458"/>
          </a:xfrm>
        </p:spPr>
        <p:txBody>
          <a:bodyPr/>
          <a:lstStyle/>
          <a:p>
            <a:pPr>
              <a:lnSpc>
                <a:spcPct val="150000"/>
              </a:lnSpc>
            </a:pPr>
            <a:r>
              <a:rPr lang="en-IN" dirty="0"/>
              <a:t>Processor management</a:t>
            </a:r>
          </a:p>
          <a:p>
            <a:pPr>
              <a:lnSpc>
                <a:spcPct val="150000"/>
              </a:lnSpc>
            </a:pPr>
            <a:r>
              <a:rPr lang="en-IN" dirty="0"/>
              <a:t>Memory management</a:t>
            </a:r>
          </a:p>
          <a:p>
            <a:pPr>
              <a:lnSpc>
                <a:spcPct val="150000"/>
              </a:lnSpc>
            </a:pPr>
            <a:r>
              <a:rPr lang="en-IN" dirty="0"/>
              <a:t>I/O management</a:t>
            </a:r>
          </a:p>
          <a:p>
            <a:pPr>
              <a:lnSpc>
                <a:spcPct val="150000"/>
              </a:lnSpc>
            </a:pPr>
            <a:r>
              <a:rPr lang="en-IN" dirty="0"/>
              <a:t>File management</a:t>
            </a:r>
          </a:p>
          <a:p>
            <a:pPr>
              <a:lnSpc>
                <a:spcPct val="150000"/>
              </a:lnSpc>
            </a:pPr>
            <a:r>
              <a:rPr lang="en-IN" dirty="0"/>
              <a:t>Protection &amp; security</a:t>
            </a:r>
          </a:p>
          <a:p>
            <a:pPr>
              <a:lnSpc>
                <a:spcPct val="150000"/>
              </a:lnSpc>
            </a:pPr>
            <a:endParaRPr lang="en-IN"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5</a:t>
            </a:fld>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295400"/>
            <a:ext cx="4630508" cy="413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a:spLocks/>
          </p:cNvSpPr>
          <p:nvPr/>
        </p:nvSpPr>
        <p:spPr>
          <a:xfrm>
            <a:off x="5867400" y="5486400"/>
            <a:ext cx="1371600" cy="533400"/>
          </a:xfrm>
          <a:prstGeom prst="rect">
            <a:avLst/>
          </a:prstGeom>
        </p:spPr>
        <p:txBody>
          <a:bodyPr vert="horz" lIns="91440" tIns="45720" rIns="91440" bIns="45720" rtlCol="0" anchor="ctr">
            <a:normAutofit fontScale="85000"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400" b="0" i="0" u="none" strike="noStrike" kern="1200" cap="none" spc="0" normalizeH="0" baseline="0" noProof="0" dirty="0">
                <a:ln>
                  <a:noFill/>
                </a:ln>
                <a:solidFill>
                  <a:srgbClr val="332F67"/>
                </a:solidFill>
                <a:effectLst/>
                <a:uLnTx/>
                <a:uFillTx/>
                <a:latin typeface="Heltevica"/>
                <a:ea typeface="+mj-ea"/>
                <a:cs typeface="+mj-cs"/>
              </a:rPr>
              <a:t>OS MODEL</a:t>
            </a:r>
          </a:p>
        </p:txBody>
      </p:sp>
    </p:spTree>
    <p:extLst>
      <p:ext uri="{BB962C8B-B14F-4D97-AF65-F5344CB8AC3E}">
        <p14:creationId xmlns:p14="http://schemas.microsoft.com/office/powerpoint/2010/main" val="186880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Processor Management</a:t>
            </a:r>
            <a:endParaRPr lang="en-US" dirty="0"/>
          </a:p>
        </p:txBody>
      </p:sp>
      <p:sp>
        <p:nvSpPr>
          <p:cNvPr id="3" name="Content Placeholder 2"/>
          <p:cNvSpPr>
            <a:spLocks noGrp="1"/>
          </p:cNvSpPr>
          <p:nvPr>
            <p:ph idx="1"/>
          </p:nvPr>
        </p:nvSpPr>
        <p:spPr>
          <a:xfrm>
            <a:off x="140277" y="1143000"/>
            <a:ext cx="8827077" cy="5410200"/>
          </a:xfrm>
        </p:spPr>
        <p:txBody>
          <a:bodyPr>
            <a:normAutofit fontScale="55000" lnSpcReduction="20000"/>
          </a:bodyPr>
          <a:lstStyle/>
          <a:p>
            <a:pPr>
              <a:lnSpc>
                <a:spcPct val="150000"/>
              </a:lnSpc>
            </a:pPr>
            <a:r>
              <a:rPr lang="en-US" sz="3600" dirty="0"/>
              <a:t>Processor is the most important resource responsible for doing computation and data processing. All the tasks to be completed are allocated to the processor.</a:t>
            </a:r>
          </a:p>
          <a:p>
            <a:pPr>
              <a:lnSpc>
                <a:spcPct val="150000"/>
              </a:lnSpc>
            </a:pPr>
            <a:r>
              <a:rPr lang="en-US" sz="3600" dirty="0"/>
              <a:t>Considering single processor system, only one task can be serviced at a time. So when more no. of tasks are present and all need the processor, which one will get the processor service ? </a:t>
            </a:r>
          </a:p>
          <a:p>
            <a:pPr>
              <a:lnSpc>
                <a:spcPct val="150000"/>
              </a:lnSpc>
            </a:pPr>
            <a:r>
              <a:rPr lang="en-US" sz="3600" dirty="0"/>
              <a:t>The OS needs to manage the tasks in a system efficiently such that the processor is busy in running the tasks that need the processor service.</a:t>
            </a:r>
          </a:p>
          <a:p>
            <a:pPr>
              <a:lnSpc>
                <a:spcPct val="150000"/>
              </a:lnSpc>
            </a:pPr>
            <a:r>
              <a:rPr lang="en-US" sz="3600" dirty="0"/>
              <a:t>Different task in the system execute in parallel and need to communicate with each other. The OS must maintain synchronization between them.</a:t>
            </a:r>
          </a:p>
          <a:p>
            <a:pPr>
              <a:lnSpc>
                <a:spcPct val="150000"/>
              </a:lnSpc>
            </a:pPr>
            <a:endParaRPr lang="en-US"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Memory Management</a:t>
            </a:r>
            <a:endParaRPr lang="en-US" dirty="0"/>
          </a:p>
        </p:txBody>
      </p:sp>
      <p:sp>
        <p:nvSpPr>
          <p:cNvPr id="3" name="Content Placeholder 2"/>
          <p:cNvSpPr>
            <a:spLocks noGrp="1"/>
          </p:cNvSpPr>
          <p:nvPr>
            <p:ph idx="1"/>
          </p:nvPr>
        </p:nvSpPr>
        <p:spPr/>
        <p:txBody>
          <a:bodyPr>
            <a:normAutofit fontScale="85000" lnSpcReduction="20000"/>
          </a:bodyPr>
          <a:lstStyle/>
          <a:p>
            <a:pPr>
              <a:lnSpc>
                <a:spcPct val="150000"/>
              </a:lnSpc>
            </a:pPr>
            <a:r>
              <a:rPr lang="en-US" dirty="0"/>
              <a:t>For execution of any program, the instructions in the program and the data needed by them must exist in memory always.</a:t>
            </a:r>
          </a:p>
          <a:p>
            <a:pPr>
              <a:lnSpc>
                <a:spcPct val="150000"/>
              </a:lnSpc>
            </a:pPr>
            <a:r>
              <a:rPr lang="en-US" dirty="0"/>
              <a:t>The Memory management job of the OS involves -</a:t>
            </a:r>
          </a:p>
          <a:p>
            <a:pPr lvl="1">
              <a:lnSpc>
                <a:spcPct val="150000"/>
              </a:lnSpc>
            </a:pPr>
            <a:r>
              <a:rPr lang="en-US" dirty="0"/>
              <a:t>Determining what is in memory and when</a:t>
            </a:r>
          </a:p>
          <a:p>
            <a:pPr lvl="1">
              <a:lnSpc>
                <a:spcPct val="150000"/>
              </a:lnSpc>
            </a:pPr>
            <a:r>
              <a:rPr lang="en-US" dirty="0"/>
              <a:t>Optimizing CPU utilization and computer response to users</a:t>
            </a:r>
            <a:endParaRPr lang="en-US" sz="400" dirty="0"/>
          </a:p>
          <a:p>
            <a:pPr lvl="1">
              <a:lnSpc>
                <a:spcPct val="150000"/>
              </a:lnSpc>
            </a:pPr>
            <a:r>
              <a:rPr lang="en-US" dirty="0"/>
              <a:t>Keeping track of which parts of memory are currently being used and by which program</a:t>
            </a:r>
          </a:p>
          <a:p>
            <a:pPr lvl="1">
              <a:lnSpc>
                <a:spcPct val="150000"/>
              </a:lnSpc>
            </a:pPr>
            <a:r>
              <a:rPr lang="en-US" dirty="0"/>
              <a:t>Deciding which program (or parts thereof) and data to move into and out of memory (onto secondary storage like hard disk</a:t>
            </a:r>
          </a:p>
          <a:p>
            <a:pPr lvl="1">
              <a:lnSpc>
                <a:spcPct val="150000"/>
              </a:lnSpc>
            </a:pPr>
            <a:r>
              <a:rPr lang="en-US" dirty="0"/>
              <a:t>Allocating and de-allocating memory to the programs as needed</a:t>
            </a:r>
          </a:p>
          <a:p>
            <a:pPr lvl="1">
              <a:lnSpc>
                <a:spcPct val="150000"/>
              </a:lnSpc>
              <a:buFont typeface="Monotype Sorts" pitchFamily="-84" charset="2"/>
              <a:buNone/>
            </a:pPr>
            <a:endParaRPr lang="en-US" dirty="0"/>
          </a:p>
          <a:p>
            <a:pPr>
              <a:lnSpc>
                <a:spcPct val="150000"/>
              </a:lnSpc>
            </a:pPr>
            <a:endParaRPr lang="en-US"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Management</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US" dirty="0"/>
              <a:t>There are number of I/O devices in the system and all work on different principle and protocols.</a:t>
            </a:r>
          </a:p>
          <a:p>
            <a:pPr algn="just">
              <a:lnSpc>
                <a:spcPct val="150000"/>
              </a:lnSpc>
            </a:pPr>
            <a:r>
              <a:rPr lang="en-US" dirty="0"/>
              <a:t>The OS manages all the I/O devices by having a device driver for each device.</a:t>
            </a:r>
          </a:p>
          <a:p>
            <a:pPr algn="just">
              <a:lnSpc>
                <a:spcPct val="150000"/>
              </a:lnSpc>
            </a:pPr>
            <a:r>
              <a:rPr lang="en-US" dirty="0"/>
              <a:t>Device driver: </a:t>
            </a:r>
          </a:p>
          <a:p>
            <a:pPr lvl="1" algn="just">
              <a:lnSpc>
                <a:spcPct val="150000"/>
              </a:lnSpc>
            </a:pPr>
            <a:r>
              <a:rPr lang="en-US" dirty="0"/>
              <a:t>Set of routines written for each specific device,</a:t>
            </a:r>
          </a:p>
          <a:p>
            <a:pPr lvl="1" algn="just">
              <a:lnSpc>
                <a:spcPct val="150000"/>
              </a:lnSpc>
            </a:pPr>
            <a:r>
              <a:rPr lang="en-US" dirty="0"/>
              <a:t>Takes care of the hardware setup and protocols associated with that device.</a:t>
            </a:r>
          </a:p>
          <a:p>
            <a:pPr lvl="1" algn="just">
              <a:lnSpc>
                <a:spcPct val="150000"/>
              </a:lnSpc>
            </a:pPr>
            <a:r>
              <a:rPr lang="en-US" dirty="0"/>
              <a:t>Gives a clean and well defined interface for the user to interact with the device.</a:t>
            </a:r>
          </a:p>
        </p:txBody>
      </p:sp>
      <p:sp>
        <p:nvSpPr>
          <p:cNvPr id="4" name="Slide Number Placeholder 3"/>
          <p:cNvSpPr>
            <a:spLocks noGrp="1"/>
          </p:cNvSpPr>
          <p:nvPr>
            <p:ph type="sldNum" sz="quarter" idx="11"/>
          </p:nvPr>
        </p:nvSpPr>
        <p:spPr/>
        <p:txBody>
          <a:bodyPr/>
          <a:lstStyle/>
          <a:p>
            <a:fld id="{DDF6946E-AFD2-4EBA-A28B-FE4E80C8A0D6}"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management</a:t>
            </a:r>
            <a:endParaRPr lang="en-US" dirty="0"/>
          </a:p>
        </p:txBody>
      </p:sp>
      <p:sp>
        <p:nvSpPr>
          <p:cNvPr id="3" name="Content Placeholder 2"/>
          <p:cNvSpPr>
            <a:spLocks noGrp="1"/>
          </p:cNvSpPr>
          <p:nvPr>
            <p:ph idx="1"/>
          </p:nvPr>
        </p:nvSpPr>
        <p:spPr>
          <a:xfrm>
            <a:off x="147772" y="1097802"/>
            <a:ext cx="8827077" cy="5379197"/>
          </a:xfrm>
        </p:spPr>
        <p:txBody>
          <a:bodyPr>
            <a:noAutofit/>
          </a:bodyPr>
          <a:lstStyle/>
          <a:p>
            <a:pPr algn="just">
              <a:lnSpc>
                <a:spcPct val="100000"/>
              </a:lnSpc>
            </a:pPr>
            <a:r>
              <a:rPr lang="en-US" sz="2000" dirty="0"/>
              <a:t>The data is stored sequentially in a file. The files are created, modified, saved, opened, closed, or deleted in directories or folders.</a:t>
            </a:r>
          </a:p>
          <a:p>
            <a:pPr algn="just">
              <a:lnSpc>
                <a:spcPct val="100000"/>
              </a:lnSpc>
            </a:pPr>
            <a:r>
              <a:rPr lang="en-US" sz="2000" dirty="0"/>
              <a:t>When user wants to open a file in a particular folder, the OS must locate it and get to the point where required data is stored in the file. And to get this done effectively the file storage has to be well structured..</a:t>
            </a:r>
          </a:p>
          <a:p>
            <a:pPr algn="just">
              <a:lnSpc>
                <a:spcPct val="100000"/>
              </a:lnSpc>
            </a:pPr>
            <a:r>
              <a:rPr lang="en-US" sz="2000" dirty="0"/>
              <a:t>The file management part of OS has to control the access to the data in the files, certain files are password protected, some are read only, some are hidden. Some program have rights of access some do not have.</a:t>
            </a:r>
          </a:p>
          <a:p>
            <a:pPr algn="just">
              <a:lnSpc>
                <a:spcPct val="100000"/>
              </a:lnSpc>
            </a:pPr>
            <a:r>
              <a:rPr lang="en-US" sz="2000" dirty="0"/>
              <a:t>To take care of this, the file manager in OS must attach a set of attributes to each file to control the access.</a:t>
            </a:r>
            <a:endParaRPr lang="en-IN" sz="2000"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Protection &amp; security</a:t>
            </a:r>
            <a:endParaRPr lang="en-US" dirty="0"/>
          </a:p>
        </p:txBody>
      </p:sp>
      <p:sp>
        <p:nvSpPr>
          <p:cNvPr id="3" name="Content Placeholder 2"/>
          <p:cNvSpPr>
            <a:spLocks noGrp="1"/>
          </p:cNvSpPr>
          <p:nvPr>
            <p:ph idx="1"/>
          </p:nvPr>
        </p:nvSpPr>
        <p:spPr/>
        <p:txBody>
          <a:bodyPr>
            <a:normAutofit/>
          </a:bodyPr>
          <a:lstStyle/>
          <a:p>
            <a:r>
              <a:rPr lang="en-US" dirty="0"/>
              <a:t>Protection – controlling access of processes or users to resources</a:t>
            </a:r>
          </a:p>
          <a:p>
            <a:r>
              <a:rPr lang="en-US" dirty="0"/>
              <a:t>Security – defense of the system against internal and external attacks</a:t>
            </a:r>
          </a:p>
          <a:p>
            <a:pPr algn="just"/>
            <a:r>
              <a:rPr lang="en-US" dirty="0"/>
              <a:t>Computers may be stand-alone or networked. In any case, Multiple users/programs use them. The data and code may be shared. OS must provide protection of data in such a scenario.</a:t>
            </a:r>
          </a:p>
          <a:p>
            <a:pPr algn="just"/>
            <a:r>
              <a:rPr lang="en-US" dirty="0"/>
              <a:t>Security is capability of the system to keep itself safe from external attacks e.g. from viruses, malicious software etc. It is OS’s responsibility to provide this capability.  </a:t>
            </a:r>
            <a:endParaRPr lang="en-IN" dirty="0"/>
          </a:p>
          <a:p>
            <a:endParaRPr lang="en-US"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System Kernel</a:t>
            </a:r>
            <a:endParaRPr lang="en-IN" dirty="0"/>
          </a:p>
        </p:txBody>
      </p:sp>
      <p:sp>
        <p:nvSpPr>
          <p:cNvPr id="3" name="Content Placeholder 2"/>
          <p:cNvSpPr>
            <a:spLocks noGrp="1"/>
          </p:cNvSpPr>
          <p:nvPr>
            <p:ph idx="1"/>
          </p:nvPr>
        </p:nvSpPr>
        <p:spPr>
          <a:xfrm>
            <a:off x="140277" y="1143000"/>
            <a:ext cx="8827077" cy="5410200"/>
          </a:xfrm>
        </p:spPr>
        <p:txBody>
          <a:bodyPr>
            <a:normAutofit/>
          </a:bodyPr>
          <a:lstStyle/>
          <a:p>
            <a:r>
              <a:rPr lang="en-IN" b="1" dirty="0"/>
              <a:t>Kernel is the Central module</a:t>
            </a:r>
            <a:r>
              <a:rPr lang="en-IN" dirty="0"/>
              <a:t> of the OS, that </a:t>
            </a:r>
            <a:r>
              <a:rPr lang="en-IN" b="1" dirty="0"/>
              <a:t>loads first</a:t>
            </a:r>
            <a:r>
              <a:rPr lang="en-IN" dirty="0"/>
              <a:t>, and </a:t>
            </a:r>
            <a:r>
              <a:rPr lang="en-IN" b="1" dirty="0"/>
              <a:t>remains</a:t>
            </a:r>
            <a:r>
              <a:rPr lang="en-IN" dirty="0"/>
              <a:t> always in main memory. </a:t>
            </a:r>
          </a:p>
          <a:p>
            <a:r>
              <a:rPr lang="en-IN" dirty="0"/>
              <a:t>Because it stays in memory, it must be </a:t>
            </a:r>
            <a:r>
              <a:rPr lang="en-IN" b="1" dirty="0"/>
              <a:t>as small as possible </a:t>
            </a:r>
            <a:r>
              <a:rPr lang="en-IN" dirty="0"/>
              <a:t>while still providing all the services required by other parts of the OS and applications. </a:t>
            </a:r>
          </a:p>
          <a:p>
            <a:r>
              <a:rPr lang="en-IN" dirty="0"/>
              <a:t>Usually loaded in the </a:t>
            </a:r>
            <a:r>
              <a:rPr lang="en-IN" b="1" dirty="0"/>
              <a:t>protected area of memory </a:t>
            </a:r>
            <a:r>
              <a:rPr lang="en-IN" dirty="0"/>
              <a:t>to prevent it from being overwritten by other programs or other parts of the OS.</a:t>
            </a:r>
          </a:p>
          <a:p>
            <a:r>
              <a:rPr lang="en-IN" dirty="0"/>
              <a:t>Typically, it is responsible for memory management, process and task management, and disk management. </a:t>
            </a:r>
          </a:p>
          <a:p>
            <a:r>
              <a:rPr lang="en-IN" dirty="0"/>
              <a:t>Every operating system has a kernel. The Linux kernel is used by - </a:t>
            </a:r>
            <a:r>
              <a:rPr lang="en-IN" dirty="0" err="1"/>
              <a:t>Ubuntu</a:t>
            </a:r>
            <a:r>
              <a:rPr lang="en-IN" dirty="0"/>
              <a:t>, FreeBSD, Android and others</a:t>
            </a:r>
          </a:p>
        </p:txBody>
      </p:sp>
      <p:sp>
        <p:nvSpPr>
          <p:cNvPr id="4" name="Slide Number Placeholder 3"/>
          <p:cNvSpPr>
            <a:spLocks noGrp="1"/>
          </p:cNvSpPr>
          <p:nvPr>
            <p:ph type="sldNum" sz="quarter" idx="11"/>
          </p:nvPr>
        </p:nvSpPr>
        <p:spPr/>
        <p:txBody>
          <a:bodyPr/>
          <a:lstStyle/>
          <a:p>
            <a:fld id="{DDF6946E-AFD2-4EBA-A28B-FE4E80C8A0D6}" type="slidenum">
              <a:rPr lang="en-US" smtClean="0"/>
              <a:pPr/>
              <a:t>11</a:t>
            </a:fld>
            <a:endParaRPr lang="en-US" dirty="0"/>
          </a:p>
        </p:txBody>
      </p:sp>
    </p:spTree>
    <p:extLst>
      <p:ext uri="{BB962C8B-B14F-4D97-AF65-F5344CB8AC3E}">
        <p14:creationId xmlns:p14="http://schemas.microsoft.com/office/powerpoint/2010/main" val="145730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KERNEL SERVICES</a:t>
            </a:r>
            <a:endParaRPr lang="en-IN" dirty="0"/>
          </a:p>
        </p:txBody>
      </p:sp>
      <p:sp>
        <p:nvSpPr>
          <p:cNvPr id="3" name="Content Placeholder 2"/>
          <p:cNvSpPr>
            <a:spLocks noGrp="1"/>
          </p:cNvSpPr>
          <p:nvPr>
            <p:ph idx="1"/>
          </p:nvPr>
        </p:nvSpPr>
        <p:spPr>
          <a:xfrm>
            <a:off x="132782" y="1171505"/>
            <a:ext cx="8827077" cy="5012458"/>
          </a:xfrm>
        </p:spPr>
        <p:txBody>
          <a:bodyPr>
            <a:noAutofit/>
          </a:bodyPr>
          <a:lstStyle/>
          <a:p>
            <a:pPr marL="514350" indent="-514350">
              <a:lnSpc>
                <a:spcPct val="150000"/>
              </a:lnSpc>
              <a:buFont typeface="+mj-lt"/>
              <a:buAutoNum type="arabicPeriod"/>
            </a:pPr>
            <a:r>
              <a:rPr lang="en-IN" dirty="0"/>
              <a:t>Interrupt handling</a:t>
            </a:r>
          </a:p>
          <a:p>
            <a:pPr marL="514350" indent="-514350">
              <a:lnSpc>
                <a:spcPct val="150000"/>
              </a:lnSpc>
              <a:buFont typeface="+mj-lt"/>
              <a:buAutoNum type="arabicPeriod"/>
            </a:pPr>
            <a:r>
              <a:rPr lang="en-IN" dirty="0"/>
              <a:t>Task creation and Scheduling</a:t>
            </a:r>
          </a:p>
          <a:p>
            <a:pPr marL="514350" indent="-514350">
              <a:lnSpc>
                <a:spcPct val="150000"/>
              </a:lnSpc>
              <a:buFont typeface="+mj-lt"/>
              <a:buAutoNum type="arabicPeriod"/>
            </a:pPr>
            <a:r>
              <a:rPr lang="en-IN" dirty="0"/>
              <a:t>Inter process communication</a:t>
            </a:r>
          </a:p>
          <a:p>
            <a:pPr marL="514350" indent="-514350">
              <a:lnSpc>
                <a:spcPct val="150000"/>
              </a:lnSpc>
              <a:buFont typeface="+mj-lt"/>
              <a:buAutoNum type="arabicPeriod"/>
            </a:pPr>
            <a:r>
              <a:rPr lang="en-IN" dirty="0"/>
              <a:t>Support of I/O devices</a:t>
            </a:r>
          </a:p>
          <a:p>
            <a:pPr marL="514350" indent="-514350">
              <a:lnSpc>
                <a:spcPct val="150000"/>
              </a:lnSpc>
              <a:buFont typeface="+mj-lt"/>
              <a:buAutoNum type="arabicPeriod"/>
            </a:pPr>
            <a:r>
              <a:rPr lang="en-IN" dirty="0"/>
              <a:t>Memory allocation and de allocation</a:t>
            </a:r>
          </a:p>
          <a:p>
            <a:pPr marL="514350" indent="-514350">
              <a:lnSpc>
                <a:spcPct val="150000"/>
              </a:lnSpc>
              <a:buFont typeface="+mj-lt"/>
              <a:buAutoNum type="arabicPeriod"/>
            </a:pPr>
            <a:r>
              <a:rPr lang="en-IN" dirty="0"/>
              <a:t>File system management </a:t>
            </a:r>
          </a:p>
          <a:p>
            <a:pPr marL="514350" indent="-514350">
              <a:lnSpc>
                <a:spcPct val="150000"/>
              </a:lnSpc>
              <a:buFont typeface="+mj-lt"/>
              <a:buAutoNum type="arabicPeriod"/>
            </a:pPr>
            <a:r>
              <a:rPr lang="en-IN" dirty="0"/>
              <a:t>Network management</a:t>
            </a:r>
          </a:p>
        </p:txBody>
      </p:sp>
      <p:sp>
        <p:nvSpPr>
          <p:cNvPr id="4" name="Slide Number Placeholder 3"/>
          <p:cNvSpPr>
            <a:spLocks noGrp="1"/>
          </p:cNvSpPr>
          <p:nvPr>
            <p:ph type="sldNum" sz="quarter" idx="11"/>
          </p:nvPr>
        </p:nvSpPr>
        <p:spPr/>
        <p:txBody>
          <a:bodyPr/>
          <a:lstStyle/>
          <a:p>
            <a:fld id="{DDF6946E-AFD2-4EBA-A28B-FE4E80C8A0D6}" type="slidenum">
              <a:rPr lang="en-US" smtClean="0"/>
              <a:pPr/>
              <a:t>12</a:t>
            </a:fld>
            <a:endParaRPr lang="en-US" dirty="0"/>
          </a:p>
        </p:txBody>
      </p:sp>
    </p:spTree>
    <p:extLst>
      <p:ext uri="{BB962C8B-B14F-4D97-AF65-F5344CB8AC3E}">
        <p14:creationId xmlns:p14="http://schemas.microsoft.com/office/powerpoint/2010/main" val="3925736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OS</a:t>
            </a:r>
            <a:endParaRPr lang="en-IN" dirty="0"/>
          </a:p>
        </p:txBody>
      </p:sp>
      <p:sp>
        <p:nvSpPr>
          <p:cNvPr id="3" name="Content Placeholder 2"/>
          <p:cNvSpPr>
            <a:spLocks noGrp="1"/>
          </p:cNvSpPr>
          <p:nvPr>
            <p:ph idx="1"/>
          </p:nvPr>
        </p:nvSpPr>
        <p:spPr>
          <a:xfrm>
            <a:off x="132782" y="1171505"/>
            <a:ext cx="8827077" cy="5012458"/>
          </a:xfrm>
        </p:spPr>
        <p:txBody>
          <a:bodyPr>
            <a:noAutofit/>
          </a:bodyPr>
          <a:lstStyle/>
          <a:p>
            <a:pPr algn="l" fontAlgn="base"/>
            <a:r>
              <a:rPr lang="en-US" b="1" i="0" dirty="0">
                <a:solidFill>
                  <a:srgbClr val="273239"/>
                </a:solidFill>
                <a:effectLst/>
                <a:highlight>
                  <a:srgbClr val="FFFFFF"/>
                </a:highlight>
                <a:latin typeface="Nunito" pitchFamily="2" charset="0"/>
              </a:rPr>
              <a:t>Batch Operating System</a:t>
            </a:r>
          </a:p>
          <a:p>
            <a:pPr lvl="1" algn="just" fontAlgn="base"/>
            <a:r>
              <a:rPr lang="en-US" dirty="0">
                <a:solidFill>
                  <a:srgbClr val="273239"/>
                </a:solidFill>
                <a:highlight>
                  <a:srgbClr val="FFFFFF"/>
                </a:highlight>
                <a:latin typeface="Nunito" pitchFamily="2" charset="0"/>
              </a:rPr>
              <a:t>D</a:t>
            </a:r>
            <a:r>
              <a:rPr lang="en-US" b="0" i="0" dirty="0">
                <a:solidFill>
                  <a:srgbClr val="273239"/>
                </a:solidFill>
                <a:effectLst/>
                <a:highlight>
                  <a:srgbClr val="FFFFFF"/>
                </a:highlight>
                <a:latin typeface="Nunito" pitchFamily="2" charset="0"/>
              </a:rPr>
              <a:t>oes not interact with the computer directly. operator takes similar jobs having the same requirements and groups them into batches.</a:t>
            </a:r>
          </a:p>
          <a:p>
            <a:pPr algn="just" fontAlgn="base"/>
            <a:r>
              <a:rPr lang="en-IN" b="1" i="0" dirty="0">
                <a:solidFill>
                  <a:srgbClr val="273239"/>
                </a:solidFill>
                <a:effectLst/>
                <a:highlight>
                  <a:srgbClr val="FFFFFF"/>
                </a:highlight>
                <a:latin typeface="Nunito" pitchFamily="2" charset="0"/>
              </a:rPr>
              <a:t>Time-Sharing Operating Systems</a:t>
            </a:r>
          </a:p>
          <a:p>
            <a:pPr lvl="1" algn="just" fontAlgn="base"/>
            <a:r>
              <a:rPr lang="en-US" dirty="0">
                <a:solidFill>
                  <a:srgbClr val="273239"/>
                </a:solidFill>
                <a:highlight>
                  <a:srgbClr val="FFFFFF"/>
                </a:highlight>
                <a:latin typeface="Nunito" pitchFamily="2" charset="0"/>
              </a:rPr>
              <a:t>T</a:t>
            </a:r>
            <a:r>
              <a:rPr lang="en-US" b="0" i="0" dirty="0">
                <a:solidFill>
                  <a:srgbClr val="273239"/>
                </a:solidFill>
                <a:effectLst/>
                <a:highlight>
                  <a:srgbClr val="FFFFFF"/>
                </a:highlight>
                <a:latin typeface="Nunito" pitchFamily="2" charset="0"/>
              </a:rPr>
              <a:t>asks get an equal quantum of time for execution</a:t>
            </a:r>
          </a:p>
          <a:p>
            <a:pPr algn="just" fontAlgn="base"/>
            <a:r>
              <a:rPr lang="en-IN" b="1" i="0" dirty="0">
                <a:solidFill>
                  <a:srgbClr val="273239"/>
                </a:solidFill>
                <a:effectLst/>
                <a:highlight>
                  <a:srgbClr val="FFFFFF"/>
                </a:highlight>
                <a:latin typeface="Nunito" pitchFamily="2" charset="0"/>
              </a:rPr>
              <a:t>Distributed Operating System</a:t>
            </a:r>
          </a:p>
          <a:p>
            <a:pPr lvl="1" algn="just" fontAlgn="base"/>
            <a:r>
              <a:rPr lang="en-US" b="0" i="0" dirty="0">
                <a:solidFill>
                  <a:srgbClr val="273239"/>
                </a:solidFill>
                <a:effectLst/>
                <a:highlight>
                  <a:srgbClr val="FFFFFF"/>
                </a:highlight>
                <a:latin typeface="Nunito" pitchFamily="2" charset="0"/>
              </a:rPr>
              <a:t>Various autonomous interconnected computers communicate with each other using a shared communication network</a:t>
            </a:r>
          </a:p>
          <a:p>
            <a:pPr algn="just" fontAlgn="base"/>
            <a:r>
              <a:rPr lang="en-US" b="1" dirty="0">
                <a:solidFill>
                  <a:srgbClr val="273239"/>
                </a:solidFill>
                <a:highlight>
                  <a:srgbClr val="FFFFFF"/>
                </a:highlight>
                <a:latin typeface="Nunito" pitchFamily="2" charset="0"/>
              </a:rPr>
              <a:t>Real Time OS</a:t>
            </a:r>
          </a:p>
        </p:txBody>
      </p:sp>
      <p:sp>
        <p:nvSpPr>
          <p:cNvPr id="4" name="Slide Number Placeholder 3"/>
          <p:cNvSpPr>
            <a:spLocks noGrp="1"/>
          </p:cNvSpPr>
          <p:nvPr>
            <p:ph type="sldNum" sz="quarter" idx="11"/>
          </p:nvPr>
        </p:nvSpPr>
        <p:spPr/>
        <p:txBody>
          <a:bodyPr/>
          <a:lstStyle/>
          <a:p>
            <a:fld id="{DDF6946E-AFD2-4EBA-A28B-FE4E80C8A0D6}" type="slidenum">
              <a:rPr lang="en-US" smtClean="0"/>
              <a:pPr/>
              <a:t>13</a:t>
            </a:fld>
            <a:endParaRPr lang="en-US" dirty="0"/>
          </a:p>
        </p:txBody>
      </p:sp>
    </p:spTree>
    <p:extLst>
      <p:ext uri="{BB962C8B-B14F-4D97-AF65-F5344CB8AC3E}">
        <p14:creationId xmlns:p14="http://schemas.microsoft.com/office/powerpoint/2010/main" val="705315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827078" cy="933595"/>
          </a:xfrm>
        </p:spPr>
        <p:txBody>
          <a:bodyPr/>
          <a:lstStyle/>
          <a:p>
            <a:r>
              <a:rPr lang="en-US" dirty="0"/>
              <a:t>A Typical OS Kernel</a:t>
            </a:r>
          </a:p>
        </p:txBody>
      </p:sp>
      <p:grpSp>
        <p:nvGrpSpPr>
          <p:cNvPr id="26" name="Group 25"/>
          <p:cNvGrpSpPr/>
          <p:nvPr/>
        </p:nvGrpSpPr>
        <p:grpSpPr>
          <a:xfrm>
            <a:off x="533400" y="1371600"/>
            <a:ext cx="7924800" cy="5105400"/>
            <a:chOff x="1073150" y="1746250"/>
            <a:chExt cx="6718300" cy="4419600"/>
          </a:xfrm>
        </p:grpSpPr>
        <p:sp>
          <p:nvSpPr>
            <p:cNvPr id="3" name="Rectangle 3"/>
            <p:cNvSpPr>
              <a:spLocks noChangeArrowheads="1"/>
            </p:cNvSpPr>
            <p:nvPr/>
          </p:nvSpPr>
          <p:spPr bwMode="auto">
            <a:xfrm>
              <a:off x="1833563" y="2795588"/>
              <a:ext cx="5957887" cy="2784475"/>
            </a:xfrm>
            <a:prstGeom prst="rect">
              <a:avLst/>
            </a:prstGeom>
            <a:solidFill>
              <a:srgbClr val="A2C1FE"/>
            </a:solidFill>
            <a:ln w="9525">
              <a:solidFill>
                <a:schemeClr val="tx1"/>
              </a:solidFill>
              <a:miter lim="800000"/>
              <a:headEnd/>
              <a:tailEnd/>
            </a:ln>
            <a:effectLst/>
          </p:spPr>
          <p:txBody>
            <a:bodyPr wrap="none" anchor="ctr"/>
            <a:lstStyle/>
            <a:p>
              <a:endParaRPr lang="en-US"/>
            </a:p>
          </p:txBody>
        </p:sp>
        <p:sp>
          <p:nvSpPr>
            <p:cNvPr id="4" name="Rectangle 4"/>
            <p:cNvSpPr>
              <a:spLocks noChangeArrowheads="1"/>
            </p:cNvSpPr>
            <p:nvPr/>
          </p:nvSpPr>
          <p:spPr bwMode="auto">
            <a:xfrm>
              <a:off x="2516188" y="1746250"/>
              <a:ext cx="4591050" cy="342900"/>
            </a:xfrm>
            <a:prstGeom prst="rect">
              <a:avLst/>
            </a:prstGeom>
            <a:solidFill>
              <a:srgbClr val="A2C1FE"/>
            </a:solidFill>
            <a:ln w="9525">
              <a:solidFill>
                <a:schemeClr val="tx1"/>
              </a:solidFill>
              <a:miter lim="800000"/>
              <a:headEnd/>
              <a:tailEnd/>
            </a:ln>
            <a:effectLst/>
          </p:spPr>
          <p:txBody>
            <a:bodyPr wrap="none" anchor="ctr"/>
            <a:lstStyle/>
            <a:p>
              <a:pPr algn="ctr">
                <a:spcBef>
                  <a:spcPct val="0"/>
                </a:spcBef>
                <a:buFontTx/>
                <a:buNone/>
              </a:pPr>
              <a:r>
                <a:rPr lang="en-US" sz="1800"/>
                <a:t>Applications</a:t>
              </a:r>
            </a:p>
          </p:txBody>
        </p:sp>
        <p:sp>
          <p:nvSpPr>
            <p:cNvPr id="5" name="Rectangle 5"/>
            <p:cNvSpPr>
              <a:spLocks noChangeArrowheads="1"/>
            </p:cNvSpPr>
            <p:nvPr/>
          </p:nvSpPr>
          <p:spPr bwMode="auto">
            <a:xfrm>
              <a:off x="2538413" y="2239963"/>
              <a:ext cx="3092450" cy="344487"/>
            </a:xfrm>
            <a:prstGeom prst="rect">
              <a:avLst/>
            </a:prstGeom>
            <a:solidFill>
              <a:srgbClr val="A2C1FE"/>
            </a:solidFill>
            <a:ln w="9525">
              <a:solidFill>
                <a:schemeClr val="tx1"/>
              </a:solidFill>
              <a:miter lim="800000"/>
              <a:headEnd/>
              <a:tailEnd/>
            </a:ln>
            <a:effectLst/>
          </p:spPr>
          <p:txBody>
            <a:bodyPr wrap="none" anchor="ctr"/>
            <a:lstStyle/>
            <a:p>
              <a:pPr algn="ctr">
                <a:spcBef>
                  <a:spcPct val="0"/>
                </a:spcBef>
                <a:buFontTx/>
                <a:buNone/>
              </a:pPr>
              <a:r>
                <a:rPr lang="en-US" sz="1800" dirty="0"/>
                <a:t>System Libraries (</a:t>
              </a:r>
              <a:r>
                <a:rPr lang="en-US" sz="1800" dirty="0" err="1"/>
                <a:t>libc</a:t>
              </a:r>
              <a:r>
                <a:rPr lang="en-US" sz="1800" dirty="0"/>
                <a:t>)</a:t>
              </a:r>
            </a:p>
          </p:txBody>
        </p:sp>
        <p:sp>
          <p:nvSpPr>
            <p:cNvPr id="6" name="Rectangle 6"/>
            <p:cNvSpPr>
              <a:spLocks noChangeArrowheads="1"/>
            </p:cNvSpPr>
            <p:nvPr/>
          </p:nvSpPr>
          <p:spPr bwMode="auto">
            <a:xfrm>
              <a:off x="2516188" y="2906713"/>
              <a:ext cx="4591050" cy="34290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System Call Interface</a:t>
              </a:r>
            </a:p>
          </p:txBody>
        </p:sp>
        <p:sp>
          <p:nvSpPr>
            <p:cNvPr id="7" name="Rectangle 7"/>
            <p:cNvSpPr>
              <a:spLocks noChangeArrowheads="1"/>
            </p:cNvSpPr>
            <p:nvPr/>
          </p:nvSpPr>
          <p:spPr bwMode="auto">
            <a:xfrm>
              <a:off x="2516188" y="5822950"/>
              <a:ext cx="4591050" cy="342900"/>
            </a:xfrm>
            <a:prstGeom prst="rect">
              <a:avLst/>
            </a:prstGeom>
            <a:solidFill>
              <a:srgbClr val="A2C1FE"/>
            </a:solidFill>
            <a:ln w="9525">
              <a:solidFill>
                <a:schemeClr val="tx1"/>
              </a:solidFill>
              <a:miter lim="800000"/>
              <a:headEnd/>
              <a:tailEnd/>
            </a:ln>
            <a:effectLst/>
          </p:spPr>
          <p:txBody>
            <a:bodyPr wrap="none" anchor="ctr"/>
            <a:lstStyle/>
            <a:p>
              <a:pPr algn="ctr">
                <a:spcBef>
                  <a:spcPct val="0"/>
                </a:spcBef>
                <a:buFontTx/>
                <a:buNone/>
              </a:pPr>
              <a:r>
                <a:rPr lang="en-US" sz="1800"/>
                <a:t>Hardware</a:t>
              </a:r>
            </a:p>
          </p:txBody>
        </p:sp>
        <p:sp>
          <p:nvSpPr>
            <p:cNvPr id="8" name="Rectangle 8"/>
            <p:cNvSpPr>
              <a:spLocks noChangeArrowheads="1"/>
            </p:cNvSpPr>
            <p:nvPr/>
          </p:nvSpPr>
          <p:spPr bwMode="auto">
            <a:xfrm>
              <a:off x="2049463" y="5076825"/>
              <a:ext cx="5524500" cy="4127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Architecture-Dependent Code</a:t>
              </a:r>
            </a:p>
          </p:txBody>
        </p:sp>
        <p:sp>
          <p:nvSpPr>
            <p:cNvPr id="9" name="Rectangle 9"/>
            <p:cNvSpPr>
              <a:spLocks noChangeArrowheads="1"/>
            </p:cNvSpPr>
            <p:nvPr/>
          </p:nvSpPr>
          <p:spPr bwMode="auto">
            <a:xfrm>
              <a:off x="2103438" y="3462338"/>
              <a:ext cx="2562225" cy="1462087"/>
            </a:xfrm>
            <a:prstGeom prst="rect">
              <a:avLst/>
            </a:prstGeom>
            <a:solidFill>
              <a:srgbClr val="FCD1C1"/>
            </a:solidFill>
            <a:ln w="9525">
              <a:solidFill>
                <a:schemeClr val="tx1"/>
              </a:solidFill>
              <a:miter lim="800000"/>
              <a:headEnd/>
              <a:tailEnd/>
            </a:ln>
            <a:effectLst/>
          </p:spPr>
          <p:txBody>
            <a:bodyPr wrap="none"/>
            <a:lstStyle/>
            <a:p>
              <a:pPr algn="ctr">
                <a:spcBef>
                  <a:spcPct val="0"/>
                </a:spcBef>
                <a:buFontTx/>
                <a:buNone/>
              </a:pPr>
              <a:r>
                <a:rPr lang="en-US" sz="1800"/>
                <a:t>I/O Related</a:t>
              </a:r>
            </a:p>
          </p:txBody>
        </p:sp>
        <p:sp>
          <p:nvSpPr>
            <p:cNvPr id="10" name="Rectangle 10"/>
            <p:cNvSpPr>
              <a:spLocks noChangeArrowheads="1"/>
            </p:cNvSpPr>
            <p:nvPr/>
          </p:nvSpPr>
          <p:spPr bwMode="auto">
            <a:xfrm>
              <a:off x="4968875" y="3481388"/>
              <a:ext cx="2562225" cy="1463675"/>
            </a:xfrm>
            <a:prstGeom prst="rect">
              <a:avLst/>
            </a:prstGeom>
            <a:solidFill>
              <a:srgbClr val="FCD1C1"/>
            </a:solidFill>
            <a:ln w="9525">
              <a:solidFill>
                <a:schemeClr val="tx1"/>
              </a:solidFill>
              <a:miter lim="800000"/>
              <a:headEnd/>
              <a:tailEnd/>
            </a:ln>
            <a:effectLst/>
          </p:spPr>
          <p:txBody>
            <a:bodyPr wrap="none"/>
            <a:lstStyle/>
            <a:p>
              <a:pPr algn="ctr">
                <a:spcBef>
                  <a:spcPct val="0"/>
                </a:spcBef>
                <a:buFontTx/>
                <a:buNone/>
              </a:pPr>
              <a:r>
                <a:rPr lang="en-US" sz="1800"/>
                <a:t>Process Related</a:t>
              </a:r>
            </a:p>
          </p:txBody>
        </p:sp>
        <p:sp>
          <p:nvSpPr>
            <p:cNvPr id="11" name="Rectangle 11"/>
            <p:cNvSpPr>
              <a:spLocks noChangeArrowheads="1"/>
            </p:cNvSpPr>
            <p:nvPr/>
          </p:nvSpPr>
          <p:spPr bwMode="auto">
            <a:xfrm>
              <a:off x="5078413" y="3854450"/>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Scheduler</a:t>
              </a:r>
            </a:p>
          </p:txBody>
        </p:sp>
        <p:sp>
          <p:nvSpPr>
            <p:cNvPr id="12" name="Rectangle 12"/>
            <p:cNvSpPr>
              <a:spLocks noChangeArrowheads="1"/>
            </p:cNvSpPr>
            <p:nvPr/>
          </p:nvSpPr>
          <p:spPr bwMode="auto">
            <a:xfrm>
              <a:off x="5078413" y="4217988"/>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Memory Management</a:t>
              </a:r>
            </a:p>
          </p:txBody>
        </p:sp>
        <p:sp>
          <p:nvSpPr>
            <p:cNvPr id="13" name="Rectangle 13"/>
            <p:cNvSpPr>
              <a:spLocks noChangeArrowheads="1"/>
            </p:cNvSpPr>
            <p:nvPr/>
          </p:nvSpPr>
          <p:spPr bwMode="auto">
            <a:xfrm>
              <a:off x="5078413" y="4581525"/>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IPC</a:t>
              </a:r>
            </a:p>
          </p:txBody>
        </p:sp>
        <p:sp>
          <p:nvSpPr>
            <p:cNvPr id="14" name="Rectangle 14"/>
            <p:cNvSpPr>
              <a:spLocks noChangeArrowheads="1"/>
            </p:cNvSpPr>
            <p:nvPr/>
          </p:nvSpPr>
          <p:spPr bwMode="auto">
            <a:xfrm>
              <a:off x="2278063" y="3854450"/>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File Systems</a:t>
              </a:r>
            </a:p>
          </p:txBody>
        </p:sp>
        <p:sp>
          <p:nvSpPr>
            <p:cNvPr id="15" name="Rectangle 15"/>
            <p:cNvSpPr>
              <a:spLocks noChangeArrowheads="1"/>
            </p:cNvSpPr>
            <p:nvPr/>
          </p:nvSpPr>
          <p:spPr bwMode="auto">
            <a:xfrm>
              <a:off x="2278063" y="4217988"/>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Networking</a:t>
              </a:r>
            </a:p>
          </p:txBody>
        </p:sp>
        <p:sp>
          <p:nvSpPr>
            <p:cNvPr id="16" name="Rectangle 16"/>
            <p:cNvSpPr>
              <a:spLocks noChangeArrowheads="1"/>
            </p:cNvSpPr>
            <p:nvPr/>
          </p:nvSpPr>
          <p:spPr bwMode="auto">
            <a:xfrm>
              <a:off x="2278063" y="4581525"/>
              <a:ext cx="2311400" cy="273050"/>
            </a:xfrm>
            <a:prstGeom prst="rect">
              <a:avLst/>
            </a:prstGeom>
            <a:solidFill>
              <a:srgbClr val="FFFF99"/>
            </a:solidFill>
            <a:ln w="9525">
              <a:solidFill>
                <a:schemeClr val="tx1"/>
              </a:solidFill>
              <a:miter lim="800000"/>
              <a:headEnd/>
              <a:tailEnd/>
            </a:ln>
            <a:effectLst/>
          </p:spPr>
          <p:txBody>
            <a:bodyPr wrap="none" anchor="ctr"/>
            <a:lstStyle/>
            <a:p>
              <a:pPr algn="ctr">
                <a:spcBef>
                  <a:spcPct val="0"/>
                </a:spcBef>
                <a:buFontTx/>
                <a:buNone/>
              </a:pPr>
              <a:r>
                <a:rPr lang="en-US" sz="1800"/>
                <a:t>Device Drivers</a:t>
              </a:r>
            </a:p>
          </p:txBody>
        </p:sp>
        <p:sp>
          <p:nvSpPr>
            <p:cNvPr id="17" name="Line 17"/>
            <p:cNvSpPr>
              <a:spLocks noChangeShapeType="1"/>
            </p:cNvSpPr>
            <p:nvPr/>
          </p:nvSpPr>
          <p:spPr bwMode="auto">
            <a:xfrm>
              <a:off x="4035425" y="2098675"/>
              <a:ext cx="0" cy="161925"/>
            </a:xfrm>
            <a:prstGeom prst="line">
              <a:avLst/>
            </a:prstGeom>
            <a:noFill/>
            <a:ln w="28575">
              <a:solidFill>
                <a:schemeClr val="tx1"/>
              </a:solidFill>
              <a:round/>
              <a:headEnd/>
              <a:tailEnd/>
            </a:ln>
            <a:effectLst/>
          </p:spPr>
          <p:txBody>
            <a:bodyPr/>
            <a:lstStyle/>
            <a:p>
              <a:endParaRPr lang="en-US"/>
            </a:p>
          </p:txBody>
        </p:sp>
        <p:sp>
          <p:nvSpPr>
            <p:cNvPr id="18" name="Line 18"/>
            <p:cNvSpPr>
              <a:spLocks noChangeShapeType="1"/>
            </p:cNvSpPr>
            <p:nvPr/>
          </p:nvSpPr>
          <p:spPr bwMode="auto">
            <a:xfrm>
              <a:off x="3970338" y="2584450"/>
              <a:ext cx="0" cy="312738"/>
            </a:xfrm>
            <a:prstGeom prst="line">
              <a:avLst/>
            </a:prstGeom>
            <a:noFill/>
            <a:ln w="28575">
              <a:solidFill>
                <a:schemeClr val="tx1"/>
              </a:solidFill>
              <a:round/>
              <a:headEnd/>
              <a:tailEnd/>
            </a:ln>
            <a:effectLst/>
          </p:spPr>
          <p:txBody>
            <a:bodyPr/>
            <a:lstStyle/>
            <a:p>
              <a:endParaRPr lang="en-US"/>
            </a:p>
          </p:txBody>
        </p:sp>
        <p:sp>
          <p:nvSpPr>
            <p:cNvPr id="19" name="Line 19"/>
            <p:cNvSpPr>
              <a:spLocks noChangeShapeType="1"/>
            </p:cNvSpPr>
            <p:nvPr/>
          </p:nvSpPr>
          <p:spPr bwMode="auto">
            <a:xfrm>
              <a:off x="6315075" y="2098675"/>
              <a:ext cx="0" cy="817563"/>
            </a:xfrm>
            <a:prstGeom prst="line">
              <a:avLst/>
            </a:prstGeom>
            <a:noFill/>
            <a:ln w="28575">
              <a:solidFill>
                <a:schemeClr val="tx1"/>
              </a:solidFill>
              <a:round/>
              <a:headEnd/>
              <a:tailEnd/>
            </a:ln>
            <a:effectLst/>
          </p:spPr>
          <p:txBody>
            <a:bodyPr/>
            <a:lstStyle/>
            <a:p>
              <a:endParaRPr lang="en-US" dirty="0"/>
            </a:p>
          </p:txBody>
        </p:sp>
        <p:sp>
          <p:nvSpPr>
            <p:cNvPr id="20" name="Line 20"/>
            <p:cNvSpPr>
              <a:spLocks noChangeShapeType="1"/>
            </p:cNvSpPr>
            <p:nvPr/>
          </p:nvSpPr>
          <p:spPr bwMode="auto">
            <a:xfrm>
              <a:off x="3341688" y="3240088"/>
              <a:ext cx="0" cy="231775"/>
            </a:xfrm>
            <a:prstGeom prst="line">
              <a:avLst/>
            </a:prstGeom>
            <a:noFill/>
            <a:ln w="28575">
              <a:solidFill>
                <a:schemeClr val="tx1"/>
              </a:solidFill>
              <a:round/>
              <a:headEnd/>
              <a:tailEnd/>
            </a:ln>
            <a:effectLst/>
          </p:spPr>
          <p:txBody>
            <a:bodyPr/>
            <a:lstStyle/>
            <a:p>
              <a:endParaRPr lang="en-US"/>
            </a:p>
          </p:txBody>
        </p:sp>
        <p:sp>
          <p:nvSpPr>
            <p:cNvPr id="21" name="Line 21"/>
            <p:cNvSpPr>
              <a:spLocks noChangeShapeType="1"/>
            </p:cNvSpPr>
            <p:nvPr/>
          </p:nvSpPr>
          <p:spPr bwMode="auto">
            <a:xfrm>
              <a:off x="6196013" y="3249613"/>
              <a:ext cx="0" cy="231775"/>
            </a:xfrm>
            <a:prstGeom prst="line">
              <a:avLst/>
            </a:prstGeom>
            <a:noFill/>
            <a:ln w="28575">
              <a:solidFill>
                <a:schemeClr val="tx1"/>
              </a:solidFill>
              <a:round/>
              <a:headEnd/>
              <a:tailEnd/>
            </a:ln>
            <a:effectLst/>
          </p:spPr>
          <p:txBody>
            <a:bodyPr/>
            <a:lstStyle/>
            <a:p>
              <a:endParaRPr lang="en-US"/>
            </a:p>
          </p:txBody>
        </p:sp>
        <p:sp>
          <p:nvSpPr>
            <p:cNvPr id="22" name="Rectangle 22"/>
            <p:cNvSpPr>
              <a:spLocks noChangeArrowheads="1"/>
            </p:cNvSpPr>
            <p:nvPr/>
          </p:nvSpPr>
          <p:spPr bwMode="auto">
            <a:xfrm>
              <a:off x="1073150" y="2795588"/>
              <a:ext cx="639763" cy="2765425"/>
            </a:xfrm>
            <a:prstGeom prst="rect">
              <a:avLst/>
            </a:prstGeom>
            <a:solidFill>
              <a:srgbClr val="A2C1FE"/>
            </a:solidFill>
            <a:ln w="9525">
              <a:solidFill>
                <a:schemeClr val="tx1"/>
              </a:solidFill>
              <a:miter lim="800000"/>
              <a:headEnd/>
              <a:tailEnd/>
            </a:ln>
            <a:effectLst/>
          </p:spPr>
          <p:txBody>
            <a:bodyPr wrap="none" anchor="ctr"/>
            <a:lstStyle/>
            <a:p>
              <a:endParaRPr lang="en-US"/>
            </a:p>
          </p:txBody>
        </p:sp>
        <p:sp>
          <p:nvSpPr>
            <p:cNvPr id="23" name="Text Box 23"/>
            <p:cNvSpPr txBox="1">
              <a:spLocks noChangeArrowheads="1"/>
            </p:cNvSpPr>
            <p:nvPr/>
          </p:nvSpPr>
          <p:spPr bwMode="auto">
            <a:xfrm rot="16200000">
              <a:off x="916782" y="3958431"/>
              <a:ext cx="1047750" cy="366713"/>
            </a:xfrm>
            <a:prstGeom prst="rect">
              <a:avLst/>
            </a:prstGeom>
            <a:noFill/>
            <a:ln w="9525">
              <a:noFill/>
              <a:miter lim="800000"/>
              <a:headEnd/>
              <a:tailEnd/>
            </a:ln>
            <a:effectLst/>
          </p:spPr>
          <p:txBody>
            <a:bodyPr wrap="none">
              <a:spAutoFit/>
            </a:bodyPr>
            <a:lstStyle/>
            <a:p>
              <a:pPr>
                <a:spcBef>
                  <a:spcPct val="0"/>
                </a:spcBef>
                <a:buFontTx/>
                <a:buNone/>
              </a:pPr>
              <a:r>
                <a:rPr lang="en-US" sz="1800"/>
                <a:t>Modules</a:t>
              </a:r>
            </a:p>
          </p:txBody>
        </p:sp>
        <p:sp>
          <p:nvSpPr>
            <p:cNvPr id="24" name="Line 24"/>
            <p:cNvSpPr>
              <a:spLocks noChangeShapeType="1"/>
            </p:cNvSpPr>
            <p:nvPr/>
          </p:nvSpPr>
          <p:spPr bwMode="auto">
            <a:xfrm flipH="1">
              <a:off x="3308350" y="4924425"/>
              <a:ext cx="0" cy="161925"/>
            </a:xfrm>
            <a:prstGeom prst="line">
              <a:avLst/>
            </a:prstGeom>
            <a:noFill/>
            <a:ln w="28575">
              <a:solidFill>
                <a:schemeClr val="tx1"/>
              </a:solidFill>
              <a:round/>
              <a:headEnd/>
              <a:tailEnd/>
            </a:ln>
            <a:effectLst/>
          </p:spPr>
          <p:txBody>
            <a:bodyPr/>
            <a:lstStyle/>
            <a:p>
              <a:endParaRPr lang="en-US"/>
            </a:p>
          </p:txBody>
        </p:sp>
        <p:sp>
          <p:nvSpPr>
            <p:cNvPr id="25" name="Line 25"/>
            <p:cNvSpPr>
              <a:spLocks noChangeShapeType="1"/>
            </p:cNvSpPr>
            <p:nvPr/>
          </p:nvSpPr>
          <p:spPr bwMode="auto">
            <a:xfrm flipH="1">
              <a:off x="6173788" y="4945063"/>
              <a:ext cx="0" cy="131762"/>
            </a:xfrm>
            <a:prstGeom prst="line">
              <a:avLst/>
            </a:prstGeom>
            <a:noFill/>
            <a:ln w="28575">
              <a:solidFill>
                <a:schemeClr val="tx1"/>
              </a:solidFill>
              <a:round/>
              <a:headEnd/>
              <a:tailEnd/>
            </a:ln>
            <a:effectLst/>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48AD-D26C-17CC-52A5-87302DE33F3F}"/>
              </a:ext>
            </a:extLst>
          </p:cNvPr>
          <p:cNvSpPr>
            <a:spLocks noGrp="1"/>
          </p:cNvSpPr>
          <p:nvPr>
            <p:ph type="title"/>
          </p:nvPr>
        </p:nvSpPr>
        <p:spPr/>
        <p:txBody>
          <a:bodyPr>
            <a:normAutofit fontScale="90000"/>
          </a:bodyPr>
          <a:lstStyle/>
          <a:p>
            <a:r>
              <a:rPr lang="en-IN" dirty="0"/>
              <a:t>Overview of Windows OS Architecture</a:t>
            </a:r>
          </a:p>
        </p:txBody>
      </p:sp>
      <p:pic>
        <p:nvPicPr>
          <p:cNvPr id="9" name="Picture 8">
            <a:extLst>
              <a:ext uri="{FF2B5EF4-FFF2-40B4-BE49-F238E27FC236}">
                <a16:creationId xmlns:a16="http://schemas.microsoft.com/office/drawing/2014/main" id="{AF75B44B-8155-93DF-94FC-3F9884348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295400"/>
            <a:ext cx="6987064" cy="5181600"/>
          </a:xfrm>
          <a:prstGeom prst="rect">
            <a:avLst/>
          </a:prstGeom>
        </p:spPr>
      </p:pic>
    </p:spTree>
    <p:extLst>
      <p:ext uri="{BB962C8B-B14F-4D97-AF65-F5344CB8AC3E}">
        <p14:creationId xmlns:p14="http://schemas.microsoft.com/office/powerpoint/2010/main" val="3973048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9B68-F2B8-B3B7-64E1-CFA5ACC01CB9}"/>
              </a:ext>
            </a:extLst>
          </p:cNvPr>
          <p:cNvSpPr>
            <a:spLocks noGrp="1"/>
          </p:cNvSpPr>
          <p:nvPr>
            <p:ph type="title"/>
          </p:nvPr>
        </p:nvSpPr>
        <p:spPr/>
        <p:txBody>
          <a:bodyPr/>
          <a:lstStyle/>
          <a:p>
            <a:r>
              <a:rPr lang="en-IN" dirty="0"/>
              <a:t>Comparison of Windows and Linux</a:t>
            </a:r>
          </a:p>
        </p:txBody>
      </p:sp>
      <p:sp>
        <p:nvSpPr>
          <p:cNvPr id="3" name="Content Placeholder 2">
            <a:extLst>
              <a:ext uri="{FF2B5EF4-FFF2-40B4-BE49-F238E27FC236}">
                <a16:creationId xmlns:a16="http://schemas.microsoft.com/office/drawing/2014/main" id="{C05D2B0E-D862-7ECF-41B7-D1B5680653AC}"/>
              </a:ext>
            </a:extLst>
          </p:cNvPr>
          <p:cNvSpPr>
            <a:spLocks noGrp="1"/>
          </p:cNvSpPr>
          <p:nvPr>
            <p:ph idx="1"/>
          </p:nvPr>
        </p:nvSpPr>
        <p:spPr/>
        <p:txBody>
          <a:bodyPr>
            <a:normAutofit fontScale="85000" lnSpcReduction="20000"/>
          </a:bodyPr>
          <a:lstStyle/>
          <a:p>
            <a:pPr algn="l" rtl="0"/>
            <a:r>
              <a:rPr lang="en-US" b="1" i="0" dirty="0">
                <a:solidFill>
                  <a:srgbClr val="282829"/>
                </a:solidFill>
                <a:effectLst/>
                <a:highlight>
                  <a:srgbClr val="FFFFFF"/>
                </a:highlight>
                <a:latin typeface="-apple-system"/>
              </a:rPr>
              <a:t>Similarities:</a:t>
            </a:r>
            <a:endParaRPr lang="en-US" b="0" i="0" dirty="0">
              <a:solidFill>
                <a:srgbClr val="282829"/>
              </a:solidFill>
              <a:effectLst/>
              <a:highlight>
                <a:srgbClr val="FFFFFF"/>
              </a:highlight>
              <a:latin typeface="-apple-system"/>
            </a:endParaRPr>
          </a:p>
          <a:p>
            <a:pPr lvl="1"/>
            <a:r>
              <a:rPr lang="en-US" b="0" i="0" dirty="0">
                <a:solidFill>
                  <a:srgbClr val="282829"/>
                </a:solidFill>
                <a:effectLst/>
                <a:highlight>
                  <a:srgbClr val="FFFFFF"/>
                </a:highlight>
                <a:latin typeface="-apple-system"/>
              </a:rPr>
              <a:t>concept of Kernel Mode and User Mode processes.</a:t>
            </a:r>
          </a:p>
          <a:p>
            <a:pPr lvl="1"/>
            <a:r>
              <a:rPr lang="en-US" b="0" i="0" dirty="0">
                <a:solidFill>
                  <a:srgbClr val="282829"/>
                </a:solidFill>
                <a:effectLst/>
                <a:highlight>
                  <a:srgbClr val="FFFFFF"/>
                </a:highlight>
                <a:latin typeface="-apple-system"/>
              </a:rPr>
              <a:t>driver modules and hardware abstraction layers.</a:t>
            </a:r>
          </a:p>
          <a:p>
            <a:pPr lvl="1"/>
            <a:r>
              <a:rPr lang="en-US" b="0" i="0" dirty="0">
                <a:solidFill>
                  <a:srgbClr val="282829"/>
                </a:solidFill>
                <a:effectLst/>
                <a:highlight>
                  <a:srgbClr val="FFFFFF"/>
                </a:highlight>
                <a:latin typeface="-apple-system"/>
              </a:rPr>
              <a:t>process managers and virtual memory managers</a:t>
            </a:r>
          </a:p>
          <a:p>
            <a:pPr lvl="1"/>
            <a:r>
              <a:rPr lang="en-US" b="0" i="0" dirty="0">
                <a:solidFill>
                  <a:srgbClr val="282829"/>
                </a:solidFill>
                <a:effectLst/>
                <a:highlight>
                  <a:srgbClr val="FFFFFF"/>
                </a:highlight>
                <a:latin typeface="-apple-system"/>
              </a:rPr>
              <a:t>methods for user mode processes to call into the system kernel (Executive Services in Windows or the Kernel Interface in Linux on the diagrams).</a:t>
            </a:r>
          </a:p>
          <a:p>
            <a:pPr algn="l" rtl="0"/>
            <a:r>
              <a:rPr lang="en-US" b="1" i="0" dirty="0">
                <a:solidFill>
                  <a:srgbClr val="282829"/>
                </a:solidFill>
                <a:effectLst/>
                <a:highlight>
                  <a:srgbClr val="FFFFFF"/>
                </a:highlight>
                <a:latin typeface="-apple-system"/>
              </a:rPr>
              <a:t>Differences:</a:t>
            </a:r>
            <a:endParaRPr lang="en-US" b="0" i="0" dirty="0">
              <a:solidFill>
                <a:srgbClr val="282829"/>
              </a:solidFill>
              <a:effectLst/>
              <a:highlight>
                <a:srgbClr val="FFFFFF"/>
              </a:highlight>
              <a:latin typeface="-apple-system"/>
            </a:endParaRPr>
          </a:p>
          <a:p>
            <a:pPr lvl="1"/>
            <a:r>
              <a:rPr lang="en-US" b="0" i="0" dirty="0">
                <a:solidFill>
                  <a:srgbClr val="282829"/>
                </a:solidFill>
                <a:effectLst/>
                <a:highlight>
                  <a:srgbClr val="FFFFFF"/>
                </a:highlight>
                <a:latin typeface="-apple-system"/>
              </a:rPr>
              <a:t>Linux has no registry while it is an integral part of the Windows OS.</a:t>
            </a:r>
          </a:p>
          <a:p>
            <a:pPr lvl="1"/>
            <a:r>
              <a:rPr lang="en-US" b="0" i="0" dirty="0">
                <a:solidFill>
                  <a:srgbClr val="282829"/>
                </a:solidFill>
                <a:effectLst/>
                <a:highlight>
                  <a:srgbClr val="FFFFFF"/>
                </a:highlight>
                <a:latin typeface="-apple-system"/>
              </a:rPr>
              <a:t>File systems are vastly different with no concept of a “drive letter” in Linux as there is in Windows. Linux instead has a root (“/”) from which all devices mount to and this essentially creates the file hierarchy.</a:t>
            </a:r>
          </a:p>
          <a:p>
            <a:pPr lvl="1"/>
            <a:r>
              <a:rPr lang="en-US" b="0" i="0" dirty="0">
                <a:solidFill>
                  <a:srgbClr val="282829"/>
                </a:solidFill>
                <a:effectLst/>
                <a:highlight>
                  <a:srgbClr val="FFFFFF"/>
                </a:highlight>
                <a:latin typeface="-apple-system"/>
              </a:rPr>
              <a:t>The GUI is completely baked into Windows and for the most part cannot be changed. In Linux you are free to use various GUI managers.</a:t>
            </a:r>
          </a:p>
          <a:p>
            <a:pPr lvl="1"/>
            <a:r>
              <a:rPr lang="en-US" b="0" i="0" dirty="0">
                <a:solidFill>
                  <a:srgbClr val="282829"/>
                </a:solidFill>
                <a:effectLst/>
                <a:highlight>
                  <a:srgbClr val="FFFFFF"/>
                </a:highlight>
                <a:latin typeface="-apple-system"/>
              </a:rPr>
              <a:t>Linux has package manager utilities and Windows does not.</a:t>
            </a:r>
          </a:p>
          <a:p>
            <a:pPr lvl="1"/>
            <a:r>
              <a:rPr lang="en-US" b="0" i="0" dirty="0">
                <a:solidFill>
                  <a:srgbClr val="282829"/>
                </a:solidFill>
                <a:effectLst/>
                <a:highlight>
                  <a:srgbClr val="FFFFFF"/>
                </a:highlight>
                <a:latin typeface="-apple-system"/>
              </a:rPr>
              <a:t>Windows uses the PE (Portable Executable) file format for executing files with the extension “.EXE”. Linux doesn’t really have a standard file extension to designate an executable so long as it conforms to ELF (Executable Linkable Format) it can be executed.</a:t>
            </a:r>
          </a:p>
          <a:p>
            <a:endParaRPr lang="en-IN" dirty="0"/>
          </a:p>
        </p:txBody>
      </p:sp>
    </p:spTree>
    <p:extLst>
      <p:ext uri="{BB962C8B-B14F-4D97-AF65-F5344CB8AC3E}">
        <p14:creationId xmlns:p14="http://schemas.microsoft.com/office/powerpoint/2010/main" val="692237902"/>
      </p:ext>
    </p:extLst>
  </p:cSld>
  <p:clrMapOvr>
    <a:masterClrMapping/>
  </p:clrMapOvr>
</p:sld>
</file>

<file path=ppt/theme/theme1.xml><?xml version="1.0" encoding="utf-8"?>
<a:theme xmlns:a="http://schemas.openxmlformats.org/drawingml/2006/main" name="SITpresentation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9373934A-9758-4286-A45B-5F131CACE0BD}" vid="{1C888272-DC3C-4536-B28E-19F3F7FDC4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SITpresentationTheme</Template>
  <TotalTime>1820</TotalTime>
  <Words>1210</Words>
  <Application>Microsoft Office PowerPoint</Application>
  <PresentationFormat>On-screen Show (4:3)</PresentationFormat>
  <Paragraphs>117</Paragraphs>
  <Slides>16</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-apple-system</vt:lpstr>
      <vt:lpstr>Arial</vt:lpstr>
      <vt:lpstr>Calibri</vt:lpstr>
      <vt:lpstr>Century Schoolbook</vt:lpstr>
      <vt:lpstr>Heltevica</vt:lpstr>
      <vt:lpstr>Monotype Sorts</vt:lpstr>
      <vt:lpstr>Nunito</vt:lpstr>
      <vt:lpstr>Times New Roman</vt:lpstr>
      <vt:lpstr>var(--font-secondary)</vt:lpstr>
      <vt:lpstr>SITpresentationTheme</vt:lpstr>
      <vt:lpstr>1.1 Basics of OS</vt:lpstr>
      <vt:lpstr>What is an Operating System (OS)?</vt:lpstr>
      <vt:lpstr>What is an Operating System (OS)?</vt:lpstr>
      <vt:lpstr>Operating System Goals</vt:lpstr>
      <vt:lpstr>Functions Performed by an OS</vt:lpstr>
      <vt:lpstr>Processor Management</vt:lpstr>
      <vt:lpstr>Memory Management</vt:lpstr>
      <vt:lpstr>I/O Management</vt:lpstr>
      <vt:lpstr>File management</vt:lpstr>
      <vt:lpstr>Protection &amp; security</vt:lpstr>
      <vt:lpstr>Operating System Kernel</vt:lpstr>
      <vt:lpstr>KERNEL SERVICES</vt:lpstr>
      <vt:lpstr>Types of OS</vt:lpstr>
      <vt:lpstr>A Typical OS Kernel</vt:lpstr>
      <vt:lpstr>Overview of Windows OS Architecture</vt:lpstr>
      <vt:lpstr>Comparison of Windows and Linux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shripad</dc:creator>
  <cp:lastModifiedBy>deshpande.shripad2@gmail.com</cp:lastModifiedBy>
  <cp:revision>24</cp:revision>
  <dcterms:created xsi:type="dcterms:W3CDTF">2020-06-22T05:24:12Z</dcterms:created>
  <dcterms:modified xsi:type="dcterms:W3CDTF">2024-05-14T11:11:18Z</dcterms:modified>
</cp:coreProperties>
</file>